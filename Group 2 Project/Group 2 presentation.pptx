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3"/>
  </p:notesMasterIdLst>
  <p:sldIdLst>
    <p:sldId id="256" r:id="rId2"/>
    <p:sldId id="257" r:id="rId3"/>
    <p:sldId id="258" r:id="rId4"/>
    <p:sldId id="259" r:id="rId5"/>
    <p:sldId id="271" r:id="rId6"/>
    <p:sldId id="261" r:id="rId7"/>
    <p:sldId id="262" r:id="rId8"/>
    <p:sldId id="272" r:id="rId9"/>
    <p:sldId id="264" r:id="rId10"/>
    <p:sldId id="266"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72"/>
    <p:restoredTop sz="73649"/>
  </p:normalViewPr>
  <p:slideViewPr>
    <p:cSldViewPr snapToGrid="0">
      <p:cViewPr varScale="1">
        <p:scale>
          <a:sx n="116" d="100"/>
          <a:sy n="116" d="100"/>
        </p:scale>
        <p:origin x="10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DD30A4-8F74-4B67-940A-E013F59F7689}" type="doc">
      <dgm:prSet loTypeId="urn:microsoft.com/office/officeart/2005/8/layout/vList2" loCatId="list" qsTypeId="urn:microsoft.com/office/officeart/2005/8/quickstyle/simple2" qsCatId="simple" csTypeId="urn:microsoft.com/office/officeart/2005/8/colors/colorful1" csCatId="colorful" phldr="1"/>
      <dgm:spPr/>
      <dgm:t>
        <a:bodyPr/>
        <a:lstStyle/>
        <a:p>
          <a:endParaRPr lang="en-US"/>
        </a:p>
      </dgm:t>
    </dgm:pt>
    <dgm:pt modelId="{3B6FE5F3-8611-42CA-B9FF-8D891C1441D3}">
      <dgm:prSet/>
      <dgm:spPr>
        <a:solidFill>
          <a:schemeClr val="accent2"/>
        </a:solidFill>
      </dgm:spPr>
      <dgm:t>
        <a:bodyPr/>
        <a:lstStyle/>
        <a:p>
          <a:r>
            <a:rPr lang="en-US"/>
            <a:t>Key Points:</a:t>
          </a:r>
        </a:p>
      </dgm:t>
    </dgm:pt>
    <dgm:pt modelId="{A3543803-C916-4791-9C31-1266E6DD21C3}" type="parTrans" cxnId="{1F5B4A17-B504-4846-A56D-20F10FCC5712}">
      <dgm:prSet/>
      <dgm:spPr/>
      <dgm:t>
        <a:bodyPr/>
        <a:lstStyle/>
        <a:p>
          <a:endParaRPr lang="en-US"/>
        </a:p>
      </dgm:t>
    </dgm:pt>
    <dgm:pt modelId="{981D878F-B6D1-4801-B408-D26A3F10253A}" type="sibTrans" cxnId="{1F5B4A17-B504-4846-A56D-20F10FCC5712}">
      <dgm:prSet/>
      <dgm:spPr/>
      <dgm:t>
        <a:bodyPr/>
        <a:lstStyle/>
        <a:p>
          <a:endParaRPr lang="en-US"/>
        </a:p>
      </dgm:t>
    </dgm:pt>
    <dgm:pt modelId="{1EA721F1-3D47-44AF-AC1C-0642CD481D67}">
      <dgm:prSet/>
      <dgm:spPr>
        <a:solidFill>
          <a:srgbClr val="000000">
            <a:alpha val="29804"/>
          </a:srgbClr>
        </a:solidFill>
      </dgm:spPr>
      <dgm:t>
        <a:bodyPr/>
        <a:lstStyle/>
        <a:p>
          <a:r>
            <a:rPr lang="en-US"/>
            <a:t>Analyzed PUDL EIA-923 year-to-date generation and fuel data</a:t>
          </a:r>
        </a:p>
      </dgm:t>
    </dgm:pt>
    <dgm:pt modelId="{E6351297-ABB7-4CB1-85FF-4A2A1E95D68C}" type="parTrans" cxnId="{3D5DE433-FCCA-4EA3-92DA-1AA8108244B6}">
      <dgm:prSet/>
      <dgm:spPr/>
      <dgm:t>
        <a:bodyPr/>
        <a:lstStyle/>
        <a:p>
          <a:endParaRPr lang="en-US"/>
        </a:p>
      </dgm:t>
    </dgm:pt>
    <dgm:pt modelId="{1383EA0F-D6EE-42D3-A635-C11D5BAA6EEF}" type="sibTrans" cxnId="{3D5DE433-FCCA-4EA3-92DA-1AA8108244B6}">
      <dgm:prSet/>
      <dgm:spPr/>
      <dgm:t>
        <a:bodyPr/>
        <a:lstStyle/>
        <a:p>
          <a:endParaRPr lang="en-US"/>
        </a:p>
      </dgm:t>
    </dgm:pt>
    <dgm:pt modelId="{8CB62837-EE5B-488F-A63E-592AAEDC8F69}">
      <dgm:prSet/>
      <dgm:spPr>
        <a:solidFill>
          <a:srgbClr val="000000">
            <a:alpha val="29804"/>
          </a:srgbClr>
        </a:solidFill>
      </dgm:spPr>
      <dgm:t>
        <a:bodyPr/>
        <a:lstStyle/>
        <a:p>
          <a:r>
            <a:rPr lang="en-US"/>
            <a:t>Applied k-means clustering to identify meaningful groups of power plants</a:t>
          </a:r>
        </a:p>
      </dgm:t>
    </dgm:pt>
    <dgm:pt modelId="{25435E60-5785-4D4B-B720-C5B30E9527B0}" type="parTrans" cxnId="{18CD4FF5-A134-4F7F-AA8C-AA3BBE1E6B05}">
      <dgm:prSet/>
      <dgm:spPr/>
      <dgm:t>
        <a:bodyPr/>
        <a:lstStyle/>
        <a:p>
          <a:endParaRPr lang="en-US"/>
        </a:p>
      </dgm:t>
    </dgm:pt>
    <dgm:pt modelId="{2F673F67-3272-484C-88D7-E1ADABEA4013}" type="sibTrans" cxnId="{18CD4FF5-A134-4F7F-AA8C-AA3BBE1E6B05}">
      <dgm:prSet/>
      <dgm:spPr/>
      <dgm:t>
        <a:bodyPr/>
        <a:lstStyle/>
        <a:p>
          <a:endParaRPr lang="en-US"/>
        </a:p>
      </dgm:t>
    </dgm:pt>
    <dgm:pt modelId="{6D1B7A7A-51FB-42FF-9D49-F619F70C7A80}">
      <dgm:prSet/>
      <dgm:spPr>
        <a:solidFill>
          <a:srgbClr val="000000">
            <a:alpha val="29804"/>
          </a:srgbClr>
        </a:solidFill>
      </dgm:spPr>
      <dgm:t>
        <a:bodyPr/>
        <a:lstStyle/>
        <a:p>
          <a:r>
            <a:rPr lang="en-US"/>
            <a:t>Three clear clusters emerged</a:t>
          </a:r>
        </a:p>
      </dgm:t>
    </dgm:pt>
    <dgm:pt modelId="{4721980D-3053-46FC-9EE6-CAEAD218CB21}" type="parTrans" cxnId="{4493C87B-6B3B-4608-9B17-C640E5D61962}">
      <dgm:prSet/>
      <dgm:spPr/>
      <dgm:t>
        <a:bodyPr/>
        <a:lstStyle/>
        <a:p>
          <a:endParaRPr lang="en-US"/>
        </a:p>
      </dgm:t>
    </dgm:pt>
    <dgm:pt modelId="{E3418D44-117A-4F9F-BA69-14A013226E56}" type="sibTrans" cxnId="{4493C87B-6B3B-4608-9B17-C640E5D61962}">
      <dgm:prSet/>
      <dgm:spPr/>
      <dgm:t>
        <a:bodyPr/>
        <a:lstStyle/>
        <a:p>
          <a:endParaRPr lang="en-US"/>
        </a:p>
      </dgm:t>
    </dgm:pt>
    <dgm:pt modelId="{69816F8A-CD06-4CC0-8E34-EDF8D6AE2789}">
      <dgm:prSet/>
      <dgm:spPr>
        <a:solidFill>
          <a:srgbClr val="000000">
            <a:alpha val="29804"/>
          </a:srgbClr>
        </a:solidFill>
      </dgm:spPr>
      <dgm:t>
        <a:bodyPr/>
        <a:lstStyle/>
        <a:p>
          <a:r>
            <a:rPr lang="en-US" dirty="0"/>
            <a:t>Nuclear and coal plants with high output</a:t>
          </a:r>
        </a:p>
      </dgm:t>
    </dgm:pt>
    <dgm:pt modelId="{E8F531A2-6308-482C-B6F8-449B656ADBAE}" type="parTrans" cxnId="{9A159173-4C14-4095-940C-A1C33A5305A3}">
      <dgm:prSet/>
      <dgm:spPr/>
      <dgm:t>
        <a:bodyPr/>
        <a:lstStyle/>
        <a:p>
          <a:endParaRPr lang="en-US"/>
        </a:p>
      </dgm:t>
    </dgm:pt>
    <dgm:pt modelId="{5C116B77-0740-461B-ADE7-EEDE718A6AF9}" type="sibTrans" cxnId="{9A159173-4C14-4095-940C-A1C33A5305A3}">
      <dgm:prSet/>
      <dgm:spPr/>
      <dgm:t>
        <a:bodyPr/>
        <a:lstStyle/>
        <a:p>
          <a:endParaRPr lang="en-US"/>
        </a:p>
      </dgm:t>
    </dgm:pt>
    <dgm:pt modelId="{12592E8A-5125-4BF4-999C-DC657EBCA86E}">
      <dgm:prSet/>
      <dgm:spPr>
        <a:solidFill>
          <a:srgbClr val="000000">
            <a:alpha val="29804"/>
          </a:srgbClr>
        </a:solidFill>
      </dgm:spPr>
      <dgm:t>
        <a:bodyPr/>
        <a:lstStyle/>
        <a:p>
          <a:r>
            <a:rPr lang="en-US"/>
            <a:t>Natural gas plants with high consumption</a:t>
          </a:r>
        </a:p>
      </dgm:t>
    </dgm:pt>
    <dgm:pt modelId="{3933908A-C15F-410F-AC4D-037D169E3327}" type="parTrans" cxnId="{D3A6CC4E-C922-4A6E-83AC-4CE9A3335F97}">
      <dgm:prSet/>
      <dgm:spPr/>
      <dgm:t>
        <a:bodyPr/>
        <a:lstStyle/>
        <a:p>
          <a:endParaRPr lang="en-US"/>
        </a:p>
      </dgm:t>
    </dgm:pt>
    <dgm:pt modelId="{E1ABBCAB-76B9-4344-A567-8F1213EEA6D6}" type="sibTrans" cxnId="{D3A6CC4E-C922-4A6E-83AC-4CE9A3335F97}">
      <dgm:prSet/>
      <dgm:spPr/>
      <dgm:t>
        <a:bodyPr/>
        <a:lstStyle/>
        <a:p>
          <a:endParaRPr lang="en-US"/>
        </a:p>
      </dgm:t>
    </dgm:pt>
    <dgm:pt modelId="{768874CD-4E6B-46CF-9B0E-60DE71CD46FF}">
      <dgm:prSet/>
      <dgm:spPr>
        <a:solidFill>
          <a:srgbClr val="000000">
            <a:alpha val="29804"/>
          </a:srgbClr>
        </a:solidFill>
      </dgm:spPr>
      <dgm:t>
        <a:bodyPr/>
        <a:lstStyle/>
        <a:p>
          <a:r>
            <a:rPr lang="en-US"/>
            <a:t>Solar plants with low consumption and lower output</a:t>
          </a:r>
        </a:p>
      </dgm:t>
    </dgm:pt>
    <dgm:pt modelId="{53DA48E5-FF99-4874-B759-7B004D24048A}" type="parTrans" cxnId="{C0FB4A08-81B3-4AE9-9A77-EB7FFB2C574D}">
      <dgm:prSet/>
      <dgm:spPr/>
      <dgm:t>
        <a:bodyPr/>
        <a:lstStyle/>
        <a:p>
          <a:endParaRPr lang="en-US"/>
        </a:p>
      </dgm:t>
    </dgm:pt>
    <dgm:pt modelId="{D9EA871B-3937-4551-9ED0-18C13DB26D7D}" type="sibTrans" cxnId="{C0FB4A08-81B3-4AE9-9A77-EB7FFB2C574D}">
      <dgm:prSet/>
      <dgm:spPr/>
      <dgm:t>
        <a:bodyPr/>
        <a:lstStyle/>
        <a:p>
          <a:endParaRPr lang="en-US"/>
        </a:p>
      </dgm:t>
    </dgm:pt>
    <dgm:pt modelId="{AD5F1C38-A7B8-490E-8D17-9500B3F91AB9}">
      <dgm:prSet/>
      <dgm:spPr>
        <a:solidFill>
          <a:srgbClr val="000000">
            <a:alpha val="29804"/>
          </a:srgbClr>
        </a:solidFill>
      </dgm:spPr>
      <dgm:t>
        <a:bodyPr/>
        <a:lstStyle/>
        <a:p>
          <a:r>
            <a:rPr lang="en-US"/>
            <a:t>Insights help clarify technology roles in U.S. power generation</a:t>
          </a:r>
        </a:p>
      </dgm:t>
    </dgm:pt>
    <dgm:pt modelId="{F01F4F9E-2F6D-40EC-81D8-4082AE43F930}" type="parTrans" cxnId="{FB44BD22-5AFE-46BB-B617-5855B71324BD}">
      <dgm:prSet/>
      <dgm:spPr/>
      <dgm:t>
        <a:bodyPr/>
        <a:lstStyle/>
        <a:p>
          <a:endParaRPr lang="en-US"/>
        </a:p>
      </dgm:t>
    </dgm:pt>
    <dgm:pt modelId="{9E2EAADC-0598-47C7-AA6F-9C70180AFBF4}" type="sibTrans" cxnId="{FB44BD22-5AFE-46BB-B617-5855B71324BD}">
      <dgm:prSet/>
      <dgm:spPr/>
      <dgm:t>
        <a:bodyPr/>
        <a:lstStyle/>
        <a:p>
          <a:endParaRPr lang="en-US"/>
        </a:p>
      </dgm:t>
    </dgm:pt>
    <dgm:pt modelId="{AAA3D419-C63B-A444-B82D-47DA2C6F55E1}" type="pres">
      <dgm:prSet presAssocID="{45DD30A4-8F74-4B67-940A-E013F59F7689}" presName="linear" presStyleCnt="0">
        <dgm:presLayoutVars>
          <dgm:animLvl val="lvl"/>
          <dgm:resizeHandles val="exact"/>
        </dgm:presLayoutVars>
      </dgm:prSet>
      <dgm:spPr/>
    </dgm:pt>
    <dgm:pt modelId="{BFC4049A-E4B3-A34E-B1AD-E67C8350E010}" type="pres">
      <dgm:prSet presAssocID="{3B6FE5F3-8611-42CA-B9FF-8D891C1441D3}" presName="parentText" presStyleLbl="node1" presStyleIdx="0" presStyleCnt="1">
        <dgm:presLayoutVars>
          <dgm:chMax val="0"/>
          <dgm:bulletEnabled val="1"/>
        </dgm:presLayoutVars>
      </dgm:prSet>
      <dgm:spPr/>
    </dgm:pt>
    <dgm:pt modelId="{9D6F8D81-1036-454E-99D4-925B0B74A18D}" type="pres">
      <dgm:prSet presAssocID="{3B6FE5F3-8611-42CA-B9FF-8D891C1441D3}" presName="childText" presStyleLbl="revTx" presStyleIdx="0" presStyleCnt="1">
        <dgm:presLayoutVars>
          <dgm:bulletEnabled val="1"/>
        </dgm:presLayoutVars>
      </dgm:prSet>
      <dgm:spPr/>
    </dgm:pt>
  </dgm:ptLst>
  <dgm:cxnLst>
    <dgm:cxn modelId="{C0FB4A08-81B3-4AE9-9A77-EB7FFB2C574D}" srcId="{6D1B7A7A-51FB-42FF-9D49-F619F70C7A80}" destId="{768874CD-4E6B-46CF-9B0E-60DE71CD46FF}" srcOrd="2" destOrd="0" parTransId="{53DA48E5-FF99-4874-B759-7B004D24048A}" sibTransId="{D9EA871B-3937-4551-9ED0-18C13DB26D7D}"/>
    <dgm:cxn modelId="{1F5B4A17-B504-4846-A56D-20F10FCC5712}" srcId="{45DD30A4-8F74-4B67-940A-E013F59F7689}" destId="{3B6FE5F3-8611-42CA-B9FF-8D891C1441D3}" srcOrd="0" destOrd="0" parTransId="{A3543803-C916-4791-9C31-1266E6DD21C3}" sibTransId="{981D878F-B6D1-4801-B408-D26A3F10253A}"/>
    <dgm:cxn modelId="{FB44BD22-5AFE-46BB-B617-5855B71324BD}" srcId="{3B6FE5F3-8611-42CA-B9FF-8D891C1441D3}" destId="{AD5F1C38-A7B8-490E-8D17-9500B3F91AB9}" srcOrd="3" destOrd="0" parTransId="{F01F4F9E-2F6D-40EC-81D8-4082AE43F930}" sibTransId="{9E2EAADC-0598-47C7-AA6F-9C70180AFBF4}"/>
    <dgm:cxn modelId="{3D5DE433-FCCA-4EA3-92DA-1AA8108244B6}" srcId="{3B6FE5F3-8611-42CA-B9FF-8D891C1441D3}" destId="{1EA721F1-3D47-44AF-AC1C-0642CD481D67}" srcOrd="0" destOrd="0" parTransId="{E6351297-ABB7-4CB1-85FF-4A2A1E95D68C}" sibTransId="{1383EA0F-D6EE-42D3-A635-C11D5BAA6EEF}"/>
    <dgm:cxn modelId="{D3A6CC4E-C922-4A6E-83AC-4CE9A3335F97}" srcId="{6D1B7A7A-51FB-42FF-9D49-F619F70C7A80}" destId="{12592E8A-5125-4BF4-999C-DC657EBCA86E}" srcOrd="1" destOrd="0" parTransId="{3933908A-C15F-410F-AC4D-037D169E3327}" sibTransId="{E1ABBCAB-76B9-4344-A567-8F1213EEA6D6}"/>
    <dgm:cxn modelId="{EFF60A6C-0614-5540-A150-D743A9965186}" type="presOf" srcId="{AD5F1C38-A7B8-490E-8D17-9500B3F91AB9}" destId="{9D6F8D81-1036-454E-99D4-925B0B74A18D}" srcOrd="0" destOrd="6" presId="urn:microsoft.com/office/officeart/2005/8/layout/vList2"/>
    <dgm:cxn modelId="{9A159173-4C14-4095-940C-A1C33A5305A3}" srcId="{6D1B7A7A-51FB-42FF-9D49-F619F70C7A80}" destId="{69816F8A-CD06-4CC0-8E34-EDF8D6AE2789}" srcOrd="0" destOrd="0" parTransId="{E8F531A2-6308-482C-B6F8-449B656ADBAE}" sibTransId="{5C116B77-0740-461B-ADE7-EEDE718A6AF9}"/>
    <dgm:cxn modelId="{41C6A77A-1A6A-F044-A945-D723DB8D02B7}" type="presOf" srcId="{3B6FE5F3-8611-42CA-B9FF-8D891C1441D3}" destId="{BFC4049A-E4B3-A34E-B1AD-E67C8350E010}" srcOrd="0" destOrd="0" presId="urn:microsoft.com/office/officeart/2005/8/layout/vList2"/>
    <dgm:cxn modelId="{4493C87B-6B3B-4608-9B17-C640E5D61962}" srcId="{3B6FE5F3-8611-42CA-B9FF-8D891C1441D3}" destId="{6D1B7A7A-51FB-42FF-9D49-F619F70C7A80}" srcOrd="2" destOrd="0" parTransId="{4721980D-3053-46FC-9EE6-CAEAD218CB21}" sibTransId="{E3418D44-117A-4F9F-BA69-14A013226E56}"/>
    <dgm:cxn modelId="{8B464D89-7DB0-4246-B0E7-3FB37D9ECF76}" type="presOf" srcId="{69816F8A-CD06-4CC0-8E34-EDF8D6AE2789}" destId="{9D6F8D81-1036-454E-99D4-925B0B74A18D}" srcOrd="0" destOrd="3" presId="urn:microsoft.com/office/officeart/2005/8/layout/vList2"/>
    <dgm:cxn modelId="{BFFC9AAB-9C34-B348-ABD7-6AAF82A11B5C}" type="presOf" srcId="{8CB62837-EE5B-488F-A63E-592AAEDC8F69}" destId="{9D6F8D81-1036-454E-99D4-925B0B74A18D}" srcOrd="0" destOrd="1" presId="urn:microsoft.com/office/officeart/2005/8/layout/vList2"/>
    <dgm:cxn modelId="{AEEB39B1-0D6D-054C-812F-D69E6C1C65C8}" type="presOf" srcId="{12592E8A-5125-4BF4-999C-DC657EBCA86E}" destId="{9D6F8D81-1036-454E-99D4-925B0B74A18D}" srcOrd="0" destOrd="4" presId="urn:microsoft.com/office/officeart/2005/8/layout/vList2"/>
    <dgm:cxn modelId="{35D823BA-25FF-6C45-A7E5-74E07497327C}" type="presOf" srcId="{6D1B7A7A-51FB-42FF-9D49-F619F70C7A80}" destId="{9D6F8D81-1036-454E-99D4-925B0B74A18D}" srcOrd="0" destOrd="2" presId="urn:microsoft.com/office/officeart/2005/8/layout/vList2"/>
    <dgm:cxn modelId="{687A09C9-0E8F-A14B-9312-B19D8854F997}" type="presOf" srcId="{1EA721F1-3D47-44AF-AC1C-0642CD481D67}" destId="{9D6F8D81-1036-454E-99D4-925B0B74A18D}" srcOrd="0" destOrd="0" presId="urn:microsoft.com/office/officeart/2005/8/layout/vList2"/>
    <dgm:cxn modelId="{E811E1CA-EE81-E946-AD3D-63B7B4C98619}" type="presOf" srcId="{768874CD-4E6B-46CF-9B0E-60DE71CD46FF}" destId="{9D6F8D81-1036-454E-99D4-925B0B74A18D}" srcOrd="0" destOrd="5" presId="urn:microsoft.com/office/officeart/2005/8/layout/vList2"/>
    <dgm:cxn modelId="{53EF13F1-92E3-8A43-B3E7-BD29DDE92CF6}" type="presOf" srcId="{45DD30A4-8F74-4B67-940A-E013F59F7689}" destId="{AAA3D419-C63B-A444-B82D-47DA2C6F55E1}" srcOrd="0" destOrd="0" presId="urn:microsoft.com/office/officeart/2005/8/layout/vList2"/>
    <dgm:cxn modelId="{18CD4FF5-A134-4F7F-AA8C-AA3BBE1E6B05}" srcId="{3B6FE5F3-8611-42CA-B9FF-8D891C1441D3}" destId="{8CB62837-EE5B-488F-A63E-592AAEDC8F69}" srcOrd="1" destOrd="0" parTransId="{25435E60-5785-4D4B-B720-C5B30E9527B0}" sibTransId="{2F673F67-3272-484C-88D7-E1ADABEA4013}"/>
    <dgm:cxn modelId="{1C3E1333-3BAF-7F40-A2D7-B1F1D374AD30}" type="presParOf" srcId="{AAA3D419-C63B-A444-B82D-47DA2C6F55E1}" destId="{BFC4049A-E4B3-A34E-B1AD-E67C8350E010}" srcOrd="0" destOrd="0" presId="urn:microsoft.com/office/officeart/2005/8/layout/vList2"/>
    <dgm:cxn modelId="{E5065D44-DD4C-BD4C-B628-1E4A061230A5}" type="presParOf" srcId="{AAA3D419-C63B-A444-B82D-47DA2C6F55E1}" destId="{9D6F8D81-1036-454E-99D4-925B0B74A18D}" srcOrd="1"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B0B50C0-1215-43A9-8636-D33DD80F2F64}" type="doc">
      <dgm:prSet loTypeId="urn:microsoft.com/office/officeart/2005/8/layout/list1" loCatId="list" qsTypeId="urn:microsoft.com/office/officeart/2005/8/quickstyle/simple4" qsCatId="simple" csTypeId="urn:microsoft.com/office/officeart/2005/8/colors/colorful1" csCatId="colorful"/>
      <dgm:spPr/>
      <dgm:t>
        <a:bodyPr/>
        <a:lstStyle/>
        <a:p>
          <a:endParaRPr lang="en-US"/>
        </a:p>
      </dgm:t>
    </dgm:pt>
    <dgm:pt modelId="{DA8A9374-24C9-4B7D-80EB-952F67C57A8E}">
      <dgm:prSet/>
      <dgm:spPr/>
      <dgm:t>
        <a:bodyPr/>
        <a:lstStyle/>
        <a:p>
          <a:r>
            <a:rPr lang="en-US" dirty="0"/>
            <a:t>Dataset Used:</a:t>
          </a:r>
        </a:p>
      </dgm:t>
    </dgm:pt>
    <dgm:pt modelId="{13BF41C2-384F-45E1-9D79-E1B07936DB80}" type="parTrans" cxnId="{3E1EA917-F0A5-4878-9EC6-4F76E5AF8C39}">
      <dgm:prSet/>
      <dgm:spPr/>
      <dgm:t>
        <a:bodyPr/>
        <a:lstStyle/>
        <a:p>
          <a:endParaRPr lang="en-US"/>
        </a:p>
      </dgm:t>
    </dgm:pt>
    <dgm:pt modelId="{2746FC8E-3F40-4520-9D21-73DA29DF3646}" type="sibTrans" cxnId="{3E1EA917-F0A5-4878-9EC6-4F76E5AF8C39}">
      <dgm:prSet/>
      <dgm:spPr/>
      <dgm:t>
        <a:bodyPr/>
        <a:lstStyle/>
        <a:p>
          <a:endParaRPr lang="en-US"/>
        </a:p>
      </dgm:t>
    </dgm:pt>
    <dgm:pt modelId="{A160F31A-A020-442B-BEEA-FAA75FC5707D}">
      <dgm:prSet/>
      <dgm:spPr/>
      <dgm:t>
        <a:bodyPr/>
        <a:lstStyle/>
        <a:p>
          <a:r>
            <a:rPr lang="en-US" dirty="0"/>
            <a:t>EIA-923 (2023 Year-to-Date)</a:t>
          </a:r>
        </a:p>
      </dgm:t>
    </dgm:pt>
    <dgm:pt modelId="{211AD181-4E87-4E24-9DD9-6638AF2393F1}" type="parTrans" cxnId="{4439B21B-787B-418C-9EB9-8FFB119C70CE}">
      <dgm:prSet/>
      <dgm:spPr/>
      <dgm:t>
        <a:bodyPr/>
        <a:lstStyle/>
        <a:p>
          <a:endParaRPr lang="en-US"/>
        </a:p>
      </dgm:t>
    </dgm:pt>
    <dgm:pt modelId="{50B474D9-6469-4243-8B6D-93B6B0AF8674}" type="sibTrans" cxnId="{4439B21B-787B-418C-9EB9-8FFB119C70CE}">
      <dgm:prSet/>
      <dgm:spPr/>
      <dgm:t>
        <a:bodyPr/>
        <a:lstStyle/>
        <a:p>
          <a:endParaRPr lang="en-US"/>
        </a:p>
      </dgm:t>
    </dgm:pt>
    <dgm:pt modelId="{94B47580-0C6C-4492-A865-A8A4985B4E84}">
      <dgm:prSet/>
      <dgm:spPr/>
      <dgm:t>
        <a:bodyPr/>
        <a:lstStyle/>
        <a:p>
          <a:r>
            <a:rPr lang="en-US"/>
            <a:t>Includes generation and fuel usage</a:t>
          </a:r>
        </a:p>
      </dgm:t>
    </dgm:pt>
    <dgm:pt modelId="{85BD2099-E9A5-42FE-8D76-411875499470}" type="parTrans" cxnId="{706FF878-852C-4EB3-A522-B7CAA8485A0A}">
      <dgm:prSet/>
      <dgm:spPr/>
      <dgm:t>
        <a:bodyPr/>
        <a:lstStyle/>
        <a:p>
          <a:endParaRPr lang="en-US"/>
        </a:p>
      </dgm:t>
    </dgm:pt>
    <dgm:pt modelId="{42AE6794-C589-4ABA-9BED-7D7153F7B4C5}" type="sibTrans" cxnId="{706FF878-852C-4EB3-A522-B7CAA8485A0A}">
      <dgm:prSet/>
      <dgm:spPr/>
      <dgm:t>
        <a:bodyPr/>
        <a:lstStyle/>
        <a:p>
          <a:endParaRPr lang="en-US"/>
        </a:p>
      </dgm:t>
    </dgm:pt>
    <dgm:pt modelId="{E8332F2D-947E-4AEE-BA95-C0FFA5E65B8D}">
      <dgm:prSet/>
      <dgm:spPr/>
      <dgm:t>
        <a:bodyPr/>
        <a:lstStyle/>
        <a:p>
          <a:r>
            <a:rPr lang="en-US"/>
            <a:t>Over 17,000 plant-level records</a:t>
          </a:r>
        </a:p>
      </dgm:t>
    </dgm:pt>
    <dgm:pt modelId="{83214F2C-1918-473A-BAB3-1C7B8AD674C8}" type="parTrans" cxnId="{10E3968E-4F05-4B2B-A28B-82F2CD3A123B}">
      <dgm:prSet/>
      <dgm:spPr/>
      <dgm:t>
        <a:bodyPr/>
        <a:lstStyle/>
        <a:p>
          <a:endParaRPr lang="en-US"/>
        </a:p>
      </dgm:t>
    </dgm:pt>
    <dgm:pt modelId="{8DC2F64F-A3B5-4011-AC9B-E966D38E114E}" type="sibTrans" cxnId="{10E3968E-4F05-4B2B-A28B-82F2CD3A123B}">
      <dgm:prSet/>
      <dgm:spPr/>
      <dgm:t>
        <a:bodyPr/>
        <a:lstStyle/>
        <a:p>
          <a:endParaRPr lang="en-US"/>
        </a:p>
      </dgm:t>
    </dgm:pt>
    <dgm:pt modelId="{96C259D2-17C6-441A-84F0-6DFCCD78FA79}">
      <dgm:prSet/>
      <dgm:spPr/>
      <dgm:t>
        <a:bodyPr/>
        <a:lstStyle/>
        <a:p>
          <a:r>
            <a:rPr lang="en-US"/>
            <a:t>Covers all U.S. geographic regions</a:t>
          </a:r>
        </a:p>
      </dgm:t>
    </dgm:pt>
    <dgm:pt modelId="{89E6628D-FAC9-4C00-9E26-88AF5348620E}" type="parTrans" cxnId="{7BECEFC1-6507-4C54-B146-F321D363E74F}">
      <dgm:prSet/>
      <dgm:spPr/>
      <dgm:t>
        <a:bodyPr/>
        <a:lstStyle/>
        <a:p>
          <a:endParaRPr lang="en-US"/>
        </a:p>
      </dgm:t>
    </dgm:pt>
    <dgm:pt modelId="{D5206372-3593-424B-83CB-1D60751486D5}" type="sibTrans" cxnId="{7BECEFC1-6507-4C54-B146-F321D363E74F}">
      <dgm:prSet/>
      <dgm:spPr/>
      <dgm:t>
        <a:bodyPr/>
        <a:lstStyle/>
        <a:p>
          <a:endParaRPr lang="en-US"/>
        </a:p>
      </dgm:t>
    </dgm:pt>
    <dgm:pt modelId="{1F441374-C27C-814E-BC77-68ADB6795C7A}" type="pres">
      <dgm:prSet presAssocID="{FB0B50C0-1215-43A9-8636-D33DD80F2F64}" presName="linear" presStyleCnt="0">
        <dgm:presLayoutVars>
          <dgm:dir/>
          <dgm:animLvl val="lvl"/>
          <dgm:resizeHandles val="exact"/>
        </dgm:presLayoutVars>
      </dgm:prSet>
      <dgm:spPr/>
    </dgm:pt>
    <dgm:pt modelId="{25C644FB-484A-444A-B4A7-640F78338BE5}" type="pres">
      <dgm:prSet presAssocID="{DA8A9374-24C9-4B7D-80EB-952F67C57A8E}" presName="parentLin" presStyleCnt="0"/>
      <dgm:spPr/>
    </dgm:pt>
    <dgm:pt modelId="{B5FC273D-06F6-B142-8A1C-C4F6DD72202C}" type="pres">
      <dgm:prSet presAssocID="{DA8A9374-24C9-4B7D-80EB-952F67C57A8E}" presName="parentLeftMargin" presStyleLbl="node1" presStyleIdx="0" presStyleCnt="1"/>
      <dgm:spPr/>
    </dgm:pt>
    <dgm:pt modelId="{0F93C9D0-FF5B-7D4C-AF3F-159228EF919E}" type="pres">
      <dgm:prSet presAssocID="{DA8A9374-24C9-4B7D-80EB-952F67C57A8E}" presName="parentText" presStyleLbl="node1" presStyleIdx="0" presStyleCnt="1">
        <dgm:presLayoutVars>
          <dgm:chMax val="0"/>
          <dgm:bulletEnabled val="1"/>
        </dgm:presLayoutVars>
      </dgm:prSet>
      <dgm:spPr/>
    </dgm:pt>
    <dgm:pt modelId="{4D054155-7BA0-0D43-A543-E70717A18058}" type="pres">
      <dgm:prSet presAssocID="{DA8A9374-24C9-4B7D-80EB-952F67C57A8E}" presName="negativeSpace" presStyleCnt="0"/>
      <dgm:spPr/>
    </dgm:pt>
    <dgm:pt modelId="{B60E2BAE-F3D9-5F4D-B00D-5D0906AFA940}" type="pres">
      <dgm:prSet presAssocID="{DA8A9374-24C9-4B7D-80EB-952F67C57A8E}" presName="childText" presStyleLbl="conFgAcc1" presStyleIdx="0" presStyleCnt="1">
        <dgm:presLayoutVars>
          <dgm:bulletEnabled val="1"/>
        </dgm:presLayoutVars>
      </dgm:prSet>
      <dgm:spPr/>
    </dgm:pt>
  </dgm:ptLst>
  <dgm:cxnLst>
    <dgm:cxn modelId="{3E1EA917-F0A5-4878-9EC6-4F76E5AF8C39}" srcId="{FB0B50C0-1215-43A9-8636-D33DD80F2F64}" destId="{DA8A9374-24C9-4B7D-80EB-952F67C57A8E}" srcOrd="0" destOrd="0" parTransId="{13BF41C2-384F-45E1-9D79-E1B07936DB80}" sibTransId="{2746FC8E-3F40-4520-9D21-73DA29DF3646}"/>
    <dgm:cxn modelId="{C4375A1A-F3E4-AA48-8CAB-62D676072702}" type="presOf" srcId="{DA8A9374-24C9-4B7D-80EB-952F67C57A8E}" destId="{B5FC273D-06F6-B142-8A1C-C4F6DD72202C}" srcOrd="0" destOrd="0" presId="urn:microsoft.com/office/officeart/2005/8/layout/list1"/>
    <dgm:cxn modelId="{4439B21B-787B-418C-9EB9-8FFB119C70CE}" srcId="{DA8A9374-24C9-4B7D-80EB-952F67C57A8E}" destId="{A160F31A-A020-442B-BEEA-FAA75FC5707D}" srcOrd="0" destOrd="0" parTransId="{211AD181-4E87-4E24-9DD9-6638AF2393F1}" sibTransId="{50B474D9-6469-4243-8B6D-93B6B0AF8674}"/>
    <dgm:cxn modelId="{26307128-CD49-5F4C-9601-558B9B0F6878}" type="presOf" srcId="{FB0B50C0-1215-43A9-8636-D33DD80F2F64}" destId="{1F441374-C27C-814E-BC77-68ADB6795C7A}" srcOrd="0" destOrd="0" presId="urn:microsoft.com/office/officeart/2005/8/layout/list1"/>
    <dgm:cxn modelId="{AE321031-DA50-6943-B84D-B8CA3CB9D95C}" type="presOf" srcId="{96C259D2-17C6-441A-84F0-6DFCCD78FA79}" destId="{B60E2BAE-F3D9-5F4D-B00D-5D0906AFA940}" srcOrd="0" destOrd="3" presId="urn:microsoft.com/office/officeart/2005/8/layout/list1"/>
    <dgm:cxn modelId="{A5A1986A-174A-D642-8E03-E07FAC088997}" type="presOf" srcId="{A160F31A-A020-442B-BEEA-FAA75FC5707D}" destId="{B60E2BAE-F3D9-5F4D-B00D-5D0906AFA940}" srcOrd="0" destOrd="0" presId="urn:microsoft.com/office/officeart/2005/8/layout/list1"/>
    <dgm:cxn modelId="{706FF878-852C-4EB3-A522-B7CAA8485A0A}" srcId="{DA8A9374-24C9-4B7D-80EB-952F67C57A8E}" destId="{94B47580-0C6C-4492-A865-A8A4985B4E84}" srcOrd="1" destOrd="0" parTransId="{85BD2099-E9A5-42FE-8D76-411875499470}" sibTransId="{42AE6794-C589-4ABA-9BED-7D7153F7B4C5}"/>
    <dgm:cxn modelId="{295E257F-B73B-0243-A21E-32BAC72231A9}" type="presOf" srcId="{E8332F2D-947E-4AEE-BA95-C0FFA5E65B8D}" destId="{B60E2BAE-F3D9-5F4D-B00D-5D0906AFA940}" srcOrd="0" destOrd="2" presId="urn:microsoft.com/office/officeart/2005/8/layout/list1"/>
    <dgm:cxn modelId="{2D258B84-D534-DF4D-972C-DF5356F8FE6C}" type="presOf" srcId="{94B47580-0C6C-4492-A865-A8A4985B4E84}" destId="{B60E2BAE-F3D9-5F4D-B00D-5D0906AFA940}" srcOrd="0" destOrd="1" presId="urn:microsoft.com/office/officeart/2005/8/layout/list1"/>
    <dgm:cxn modelId="{10E3968E-4F05-4B2B-A28B-82F2CD3A123B}" srcId="{DA8A9374-24C9-4B7D-80EB-952F67C57A8E}" destId="{E8332F2D-947E-4AEE-BA95-C0FFA5E65B8D}" srcOrd="2" destOrd="0" parTransId="{83214F2C-1918-473A-BAB3-1C7B8AD674C8}" sibTransId="{8DC2F64F-A3B5-4011-AC9B-E966D38E114E}"/>
    <dgm:cxn modelId="{7BECEFC1-6507-4C54-B146-F321D363E74F}" srcId="{DA8A9374-24C9-4B7D-80EB-952F67C57A8E}" destId="{96C259D2-17C6-441A-84F0-6DFCCD78FA79}" srcOrd="3" destOrd="0" parTransId="{89E6628D-FAC9-4C00-9E26-88AF5348620E}" sibTransId="{D5206372-3593-424B-83CB-1D60751486D5}"/>
    <dgm:cxn modelId="{DFB2F7FA-D1E8-1545-95E7-5E475C7177BE}" type="presOf" srcId="{DA8A9374-24C9-4B7D-80EB-952F67C57A8E}" destId="{0F93C9D0-FF5B-7D4C-AF3F-159228EF919E}" srcOrd="1" destOrd="0" presId="urn:microsoft.com/office/officeart/2005/8/layout/list1"/>
    <dgm:cxn modelId="{0671DA99-F98C-9943-A2D2-F61E0510DCFA}" type="presParOf" srcId="{1F441374-C27C-814E-BC77-68ADB6795C7A}" destId="{25C644FB-484A-444A-B4A7-640F78338BE5}" srcOrd="0" destOrd="0" presId="urn:microsoft.com/office/officeart/2005/8/layout/list1"/>
    <dgm:cxn modelId="{822D5850-3DE5-454B-8E89-BF667694B716}" type="presParOf" srcId="{25C644FB-484A-444A-B4A7-640F78338BE5}" destId="{B5FC273D-06F6-B142-8A1C-C4F6DD72202C}" srcOrd="0" destOrd="0" presId="urn:microsoft.com/office/officeart/2005/8/layout/list1"/>
    <dgm:cxn modelId="{EBC272FB-2870-F242-8DF0-F3D5AC1074F9}" type="presParOf" srcId="{25C644FB-484A-444A-B4A7-640F78338BE5}" destId="{0F93C9D0-FF5B-7D4C-AF3F-159228EF919E}" srcOrd="1" destOrd="0" presId="urn:microsoft.com/office/officeart/2005/8/layout/list1"/>
    <dgm:cxn modelId="{A64EA7A0-0037-F64C-94C2-616233F3385F}" type="presParOf" srcId="{1F441374-C27C-814E-BC77-68ADB6795C7A}" destId="{4D054155-7BA0-0D43-A543-E70717A18058}" srcOrd="1" destOrd="0" presId="urn:microsoft.com/office/officeart/2005/8/layout/list1"/>
    <dgm:cxn modelId="{BA2AB87E-8EF2-0042-A292-8C3C8825A9B1}" type="presParOf" srcId="{1F441374-C27C-814E-BC77-68ADB6795C7A}" destId="{B60E2BAE-F3D9-5F4D-B00D-5D0906AFA940}" srcOrd="2"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410A9C-8D63-0E42-95A7-71F3D2FB0A15}"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en-US"/>
        </a:p>
      </dgm:t>
    </dgm:pt>
    <dgm:pt modelId="{AB41A2D6-C2F2-6B4C-9384-26712E60819D}">
      <dgm:prSet/>
      <dgm:spPr/>
      <dgm:t>
        <a:bodyPr/>
        <a:lstStyle/>
        <a:p>
          <a:r>
            <a:rPr lang="en-US" dirty="0"/>
            <a:t>Removed header rows not part of the data</a:t>
          </a:r>
        </a:p>
      </dgm:t>
    </dgm:pt>
    <dgm:pt modelId="{E33ABF2F-6B52-9041-92BB-32644902F405}" type="parTrans" cxnId="{D41C9DA9-CE94-834D-8F09-5876763F373D}">
      <dgm:prSet/>
      <dgm:spPr/>
      <dgm:t>
        <a:bodyPr/>
        <a:lstStyle/>
        <a:p>
          <a:endParaRPr lang="en-US"/>
        </a:p>
      </dgm:t>
    </dgm:pt>
    <dgm:pt modelId="{C75F3C13-352F-DD48-87B0-1AC2305E0514}" type="sibTrans" cxnId="{D41C9DA9-CE94-834D-8F09-5876763F373D}">
      <dgm:prSet/>
      <dgm:spPr/>
      <dgm:t>
        <a:bodyPr/>
        <a:lstStyle/>
        <a:p>
          <a:endParaRPr lang="en-US"/>
        </a:p>
      </dgm:t>
    </dgm:pt>
    <dgm:pt modelId="{051A76A9-E5B2-5A42-A24E-8C53DFB311E0}">
      <dgm:prSet/>
      <dgm:spPr/>
      <dgm:t>
        <a:bodyPr/>
        <a:lstStyle/>
        <a:p>
          <a:r>
            <a:rPr lang="en-US" dirty="0"/>
            <a:t>Cleaned column names</a:t>
          </a:r>
        </a:p>
      </dgm:t>
    </dgm:pt>
    <dgm:pt modelId="{0D439EE9-B4E6-0F49-8238-0305AC97433A}" type="parTrans" cxnId="{43E5AD26-5AAD-5D4E-9E69-0EBA0B7D44D4}">
      <dgm:prSet/>
      <dgm:spPr/>
      <dgm:t>
        <a:bodyPr/>
        <a:lstStyle/>
        <a:p>
          <a:endParaRPr lang="en-US"/>
        </a:p>
      </dgm:t>
    </dgm:pt>
    <dgm:pt modelId="{A4D97A42-5133-2C4C-A77A-2D2D7E893F97}" type="sibTrans" cxnId="{43E5AD26-5AAD-5D4E-9E69-0EBA0B7D44D4}">
      <dgm:prSet/>
      <dgm:spPr/>
      <dgm:t>
        <a:bodyPr/>
        <a:lstStyle/>
        <a:p>
          <a:endParaRPr lang="en-US"/>
        </a:p>
      </dgm:t>
    </dgm:pt>
    <dgm:pt modelId="{EDDFD131-9E7D-ED4C-8F6D-C8ED4187DDA9}">
      <dgm:prSet/>
      <dgm:spPr/>
      <dgm:t>
        <a:bodyPr/>
        <a:lstStyle/>
        <a:p>
          <a:r>
            <a:rPr lang="en-US" dirty="0"/>
            <a:t>Selected the six year-to-date fields</a:t>
          </a:r>
        </a:p>
      </dgm:t>
    </dgm:pt>
    <dgm:pt modelId="{2EA1879F-8FB1-4A4C-9E4A-257318E2E72E}" type="parTrans" cxnId="{F6CCB2C5-0749-444C-B75F-DAD374D22CA9}">
      <dgm:prSet/>
      <dgm:spPr/>
      <dgm:t>
        <a:bodyPr/>
        <a:lstStyle/>
        <a:p>
          <a:endParaRPr lang="en-US"/>
        </a:p>
      </dgm:t>
    </dgm:pt>
    <dgm:pt modelId="{F38D6DAD-C97E-2740-855D-1D571EE12D5E}" type="sibTrans" cxnId="{F6CCB2C5-0749-444C-B75F-DAD374D22CA9}">
      <dgm:prSet/>
      <dgm:spPr/>
      <dgm:t>
        <a:bodyPr/>
        <a:lstStyle/>
        <a:p>
          <a:endParaRPr lang="en-US"/>
        </a:p>
      </dgm:t>
    </dgm:pt>
    <dgm:pt modelId="{7341CD8E-4714-8A41-AB62-9D8E63E6D76E}">
      <dgm:prSet/>
      <dgm:spPr/>
      <dgm:t>
        <a:bodyPr/>
        <a:lstStyle/>
        <a:p>
          <a:r>
            <a:rPr lang="en-US" dirty="0"/>
            <a:t>Converted variables to numeric</a:t>
          </a:r>
        </a:p>
      </dgm:t>
    </dgm:pt>
    <dgm:pt modelId="{86C48EEA-4B5A-054B-BDF7-89655AC5F427}" type="parTrans" cxnId="{D8ACA90E-02F0-8040-84A8-2696232E6307}">
      <dgm:prSet/>
      <dgm:spPr/>
      <dgm:t>
        <a:bodyPr/>
        <a:lstStyle/>
        <a:p>
          <a:endParaRPr lang="en-US"/>
        </a:p>
      </dgm:t>
    </dgm:pt>
    <dgm:pt modelId="{161861B5-6DF3-4F4D-81F8-231ECE9B23FB}" type="sibTrans" cxnId="{D8ACA90E-02F0-8040-84A8-2696232E6307}">
      <dgm:prSet/>
      <dgm:spPr/>
      <dgm:t>
        <a:bodyPr/>
        <a:lstStyle/>
        <a:p>
          <a:endParaRPr lang="en-US"/>
        </a:p>
      </dgm:t>
    </dgm:pt>
    <dgm:pt modelId="{75A74BCC-E2AA-9C4D-9AA0-30CCB2D943DA}">
      <dgm:prSet/>
      <dgm:spPr/>
      <dgm:t>
        <a:bodyPr/>
        <a:lstStyle/>
        <a:p>
          <a:r>
            <a:rPr lang="en-US" dirty="0"/>
            <a:t>Removed one incomplete observation</a:t>
          </a:r>
        </a:p>
      </dgm:t>
    </dgm:pt>
    <dgm:pt modelId="{4F58E390-30D5-D448-9E6D-9DDF974CDFC2}" type="parTrans" cxnId="{2EB032E2-2F14-CD4A-87AB-5F708DEB89ED}">
      <dgm:prSet/>
      <dgm:spPr/>
      <dgm:t>
        <a:bodyPr/>
        <a:lstStyle/>
        <a:p>
          <a:endParaRPr lang="en-US"/>
        </a:p>
      </dgm:t>
    </dgm:pt>
    <dgm:pt modelId="{7F8B21A9-B568-8442-8ED6-1282250AE46F}" type="sibTrans" cxnId="{2EB032E2-2F14-CD4A-87AB-5F708DEB89ED}">
      <dgm:prSet/>
      <dgm:spPr/>
      <dgm:t>
        <a:bodyPr/>
        <a:lstStyle/>
        <a:p>
          <a:endParaRPr lang="en-US"/>
        </a:p>
      </dgm:t>
    </dgm:pt>
    <dgm:pt modelId="{C2BE8756-F865-BA4F-BA49-2FC5B22FD898}">
      <dgm:prSet/>
      <dgm:spPr/>
      <dgm:t>
        <a:bodyPr/>
        <a:lstStyle/>
        <a:p>
          <a:r>
            <a:rPr lang="en-US"/>
            <a:t>Scaled numeric fields prior to clustering</a:t>
          </a:r>
        </a:p>
      </dgm:t>
    </dgm:pt>
    <dgm:pt modelId="{351CC1B2-4BD5-8342-96C2-5227F7BBBCA4}" type="parTrans" cxnId="{F8AB3334-D9F0-094C-9BDE-5C753BDA19A9}">
      <dgm:prSet/>
      <dgm:spPr/>
      <dgm:t>
        <a:bodyPr/>
        <a:lstStyle/>
        <a:p>
          <a:endParaRPr lang="en-US"/>
        </a:p>
      </dgm:t>
    </dgm:pt>
    <dgm:pt modelId="{D3A4E4AD-AD85-8848-BB84-7BFEAB9D615D}" type="sibTrans" cxnId="{F8AB3334-D9F0-094C-9BDE-5C753BDA19A9}">
      <dgm:prSet/>
      <dgm:spPr/>
      <dgm:t>
        <a:bodyPr/>
        <a:lstStyle/>
        <a:p>
          <a:endParaRPr lang="en-US"/>
        </a:p>
      </dgm:t>
    </dgm:pt>
    <dgm:pt modelId="{BB3B60C0-E963-8742-8623-5C3BADABD016}">
      <dgm:prSet/>
      <dgm:spPr>
        <a:solidFill>
          <a:schemeClr val="accent2"/>
        </a:solidFill>
      </dgm:spPr>
      <dgm:t>
        <a:bodyPr/>
        <a:lstStyle/>
        <a:p>
          <a:r>
            <a:rPr lang="en-US" dirty="0"/>
            <a:t>First</a:t>
          </a:r>
        </a:p>
      </dgm:t>
    </dgm:pt>
    <dgm:pt modelId="{4127A044-2F1A-4245-BE9D-7EDBC5B8CF6B}" type="parTrans" cxnId="{6269DFFC-241C-9C4F-AA17-86323D0D982A}">
      <dgm:prSet/>
      <dgm:spPr/>
      <dgm:t>
        <a:bodyPr/>
        <a:lstStyle/>
        <a:p>
          <a:endParaRPr lang="en-US"/>
        </a:p>
      </dgm:t>
    </dgm:pt>
    <dgm:pt modelId="{217C66ED-646B-9646-B464-CF4534F1DF27}" type="sibTrans" cxnId="{6269DFFC-241C-9C4F-AA17-86323D0D982A}">
      <dgm:prSet/>
      <dgm:spPr/>
      <dgm:t>
        <a:bodyPr/>
        <a:lstStyle/>
        <a:p>
          <a:endParaRPr lang="en-US"/>
        </a:p>
      </dgm:t>
    </dgm:pt>
    <dgm:pt modelId="{E202D600-BBF3-5341-8A71-BF041E75BD80}">
      <dgm:prSet/>
      <dgm:spPr>
        <a:solidFill>
          <a:schemeClr val="accent2"/>
        </a:solidFill>
      </dgm:spPr>
      <dgm:t>
        <a:bodyPr/>
        <a:lstStyle/>
        <a:p>
          <a:r>
            <a:rPr lang="en-US" dirty="0"/>
            <a:t>Second</a:t>
          </a:r>
        </a:p>
      </dgm:t>
    </dgm:pt>
    <dgm:pt modelId="{799EDDC0-06B6-D44C-A24E-17B8DCAB8FE1}" type="parTrans" cxnId="{498ED36E-B35D-2A4E-B4C7-93F9DC3EACFE}">
      <dgm:prSet/>
      <dgm:spPr/>
      <dgm:t>
        <a:bodyPr/>
        <a:lstStyle/>
        <a:p>
          <a:endParaRPr lang="en-US"/>
        </a:p>
      </dgm:t>
    </dgm:pt>
    <dgm:pt modelId="{E98B3EB9-81EB-DC44-A7D1-78233435B74E}" type="sibTrans" cxnId="{498ED36E-B35D-2A4E-B4C7-93F9DC3EACFE}">
      <dgm:prSet/>
      <dgm:spPr/>
      <dgm:t>
        <a:bodyPr/>
        <a:lstStyle/>
        <a:p>
          <a:endParaRPr lang="en-US"/>
        </a:p>
      </dgm:t>
    </dgm:pt>
    <dgm:pt modelId="{5E81FD40-710B-4C4D-97D8-7998824F8562}">
      <dgm:prSet/>
      <dgm:spPr>
        <a:solidFill>
          <a:schemeClr val="accent2"/>
        </a:solidFill>
      </dgm:spPr>
      <dgm:t>
        <a:bodyPr/>
        <a:lstStyle/>
        <a:p>
          <a:r>
            <a:rPr lang="en-US" dirty="0"/>
            <a:t>Third</a:t>
          </a:r>
        </a:p>
      </dgm:t>
    </dgm:pt>
    <dgm:pt modelId="{EA459193-E5ED-5C4B-88A8-220C2F75187D}" type="parTrans" cxnId="{5E7D1F33-B313-B440-A873-77A2B63ACFB1}">
      <dgm:prSet/>
      <dgm:spPr/>
      <dgm:t>
        <a:bodyPr/>
        <a:lstStyle/>
        <a:p>
          <a:endParaRPr lang="en-US"/>
        </a:p>
      </dgm:t>
    </dgm:pt>
    <dgm:pt modelId="{467F4450-B235-A144-84A3-B4F517C24B09}" type="sibTrans" cxnId="{5E7D1F33-B313-B440-A873-77A2B63ACFB1}">
      <dgm:prSet/>
      <dgm:spPr/>
      <dgm:t>
        <a:bodyPr/>
        <a:lstStyle/>
        <a:p>
          <a:endParaRPr lang="en-US"/>
        </a:p>
      </dgm:t>
    </dgm:pt>
    <dgm:pt modelId="{7EC5C01B-06EB-D748-9765-C76BC73E2954}">
      <dgm:prSet/>
      <dgm:spPr>
        <a:solidFill>
          <a:schemeClr val="accent2"/>
        </a:solidFill>
      </dgm:spPr>
      <dgm:t>
        <a:bodyPr/>
        <a:lstStyle/>
        <a:p>
          <a:r>
            <a:rPr lang="en-US" dirty="0"/>
            <a:t>Fourth</a:t>
          </a:r>
        </a:p>
      </dgm:t>
    </dgm:pt>
    <dgm:pt modelId="{98ED9371-3F24-2342-983A-B6ADD2D21FF0}" type="parTrans" cxnId="{D107CCAA-E9BC-8C42-91E0-95BAB612B5DE}">
      <dgm:prSet/>
      <dgm:spPr/>
      <dgm:t>
        <a:bodyPr/>
        <a:lstStyle/>
        <a:p>
          <a:endParaRPr lang="en-US"/>
        </a:p>
      </dgm:t>
    </dgm:pt>
    <dgm:pt modelId="{DF547F08-35EA-D345-B265-6E38DEB9369D}" type="sibTrans" cxnId="{D107CCAA-E9BC-8C42-91E0-95BAB612B5DE}">
      <dgm:prSet/>
      <dgm:spPr/>
      <dgm:t>
        <a:bodyPr/>
        <a:lstStyle/>
        <a:p>
          <a:endParaRPr lang="en-US"/>
        </a:p>
      </dgm:t>
    </dgm:pt>
    <dgm:pt modelId="{11663ACA-FB1B-B447-B6F4-FD0028D55FF8}">
      <dgm:prSet/>
      <dgm:spPr>
        <a:solidFill>
          <a:schemeClr val="accent2"/>
        </a:solidFill>
      </dgm:spPr>
      <dgm:t>
        <a:bodyPr/>
        <a:lstStyle/>
        <a:p>
          <a:r>
            <a:rPr lang="en-US" dirty="0"/>
            <a:t>Fifth</a:t>
          </a:r>
        </a:p>
      </dgm:t>
    </dgm:pt>
    <dgm:pt modelId="{F8BA3F31-EBF3-BB4C-87B1-3FA53758E366}" type="parTrans" cxnId="{73FF1438-978A-F948-97F1-FEB1FC75A99E}">
      <dgm:prSet/>
      <dgm:spPr/>
      <dgm:t>
        <a:bodyPr/>
        <a:lstStyle/>
        <a:p>
          <a:endParaRPr lang="en-US"/>
        </a:p>
      </dgm:t>
    </dgm:pt>
    <dgm:pt modelId="{8268209F-A54A-8E43-8E3F-EDCC95B7A2F0}" type="sibTrans" cxnId="{73FF1438-978A-F948-97F1-FEB1FC75A99E}">
      <dgm:prSet/>
      <dgm:spPr/>
      <dgm:t>
        <a:bodyPr/>
        <a:lstStyle/>
        <a:p>
          <a:endParaRPr lang="en-US"/>
        </a:p>
      </dgm:t>
    </dgm:pt>
    <dgm:pt modelId="{396124A9-F5CB-1641-B0E2-07527E0AA560}">
      <dgm:prSet/>
      <dgm:spPr>
        <a:solidFill>
          <a:schemeClr val="accent2"/>
        </a:solidFill>
      </dgm:spPr>
      <dgm:t>
        <a:bodyPr/>
        <a:lstStyle/>
        <a:p>
          <a:r>
            <a:rPr lang="en-US" dirty="0"/>
            <a:t>Sixth</a:t>
          </a:r>
        </a:p>
      </dgm:t>
    </dgm:pt>
    <dgm:pt modelId="{96125894-FF9F-8442-9C3F-91EADA858D78}" type="parTrans" cxnId="{887CC3ED-443E-E247-A1BC-A0C02F9BA162}">
      <dgm:prSet/>
      <dgm:spPr/>
      <dgm:t>
        <a:bodyPr/>
        <a:lstStyle/>
        <a:p>
          <a:endParaRPr lang="en-US"/>
        </a:p>
      </dgm:t>
    </dgm:pt>
    <dgm:pt modelId="{2DA81507-71E2-3449-BE6E-B704991EA2BA}" type="sibTrans" cxnId="{887CC3ED-443E-E247-A1BC-A0C02F9BA162}">
      <dgm:prSet/>
      <dgm:spPr/>
      <dgm:t>
        <a:bodyPr/>
        <a:lstStyle/>
        <a:p>
          <a:endParaRPr lang="en-US"/>
        </a:p>
      </dgm:t>
    </dgm:pt>
    <dgm:pt modelId="{CA3C4C57-9160-7C40-B9EC-95E8B9168C34}" type="pres">
      <dgm:prSet presAssocID="{84410A9C-8D63-0E42-95A7-71F3D2FB0A15}" presName="linearFlow" presStyleCnt="0">
        <dgm:presLayoutVars>
          <dgm:dir/>
          <dgm:animLvl val="lvl"/>
          <dgm:resizeHandles val="exact"/>
        </dgm:presLayoutVars>
      </dgm:prSet>
      <dgm:spPr/>
    </dgm:pt>
    <dgm:pt modelId="{BE42ECA8-47FD-C842-99D8-CC8E7E881B5F}" type="pres">
      <dgm:prSet presAssocID="{BB3B60C0-E963-8742-8623-5C3BADABD016}" presName="composite" presStyleCnt="0"/>
      <dgm:spPr/>
    </dgm:pt>
    <dgm:pt modelId="{952086F3-A69F-7248-B11A-0AE776B7A0F0}" type="pres">
      <dgm:prSet presAssocID="{BB3B60C0-E963-8742-8623-5C3BADABD016}" presName="parentText" presStyleLbl="alignNode1" presStyleIdx="0" presStyleCnt="6">
        <dgm:presLayoutVars>
          <dgm:chMax val="1"/>
          <dgm:bulletEnabled val="1"/>
        </dgm:presLayoutVars>
      </dgm:prSet>
      <dgm:spPr/>
    </dgm:pt>
    <dgm:pt modelId="{EA0263FA-92D6-3348-95F1-432FA8347B36}" type="pres">
      <dgm:prSet presAssocID="{BB3B60C0-E963-8742-8623-5C3BADABD016}" presName="descendantText" presStyleLbl="alignAcc1" presStyleIdx="0" presStyleCnt="6">
        <dgm:presLayoutVars>
          <dgm:bulletEnabled val="1"/>
        </dgm:presLayoutVars>
      </dgm:prSet>
      <dgm:spPr/>
    </dgm:pt>
    <dgm:pt modelId="{D843C436-3F4A-5A43-AED2-F73A63F1440A}" type="pres">
      <dgm:prSet presAssocID="{217C66ED-646B-9646-B464-CF4534F1DF27}" presName="sp" presStyleCnt="0"/>
      <dgm:spPr/>
    </dgm:pt>
    <dgm:pt modelId="{958FEAD4-69A5-7D4B-8B3F-19C87CAB56FF}" type="pres">
      <dgm:prSet presAssocID="{E202D600-BBF3-5341-8A71-BF041E75BD80}" presName="composite" presStyleCnt="0"/>
      <dgm:spPr/>
    </dgm:pt>
    <dgm:pt modelId="{E143DB21-D331-AE40-BEB0-3ADD8767D894}" type="pres">
      <dgm:prSet presAssocID="{E202D600-BBF3-5341-8A71-BF041E75BD80}" presName="parentText" presStyleLbl="alignNode1" presStyleIdx="1" presStyleCnt="6">
        <dgm:presLayoutVars>
          <dgm:chMax val="1"/>
          <dgm:bulletEnabled val="1"/>
        </dgm:presLayoutVars>
      </dgm:prSet>
      <dgm:spPr/>
    </dgm:pt>
    <dgm:pt modelId="{1648311B-9B8A-1E42-9D6F-13468E43F87E}" type="pres">
      <dgm:prSet presAssocID="{E202D600-BBF3-5341-8A71-BF041E75BD80}" presName="descendantText" presStyleLbl="alignAcc1" presStyleIdx="1" presStyleCnt="6">
        <dgm:presLayoutVars>
          <dgm:bulletEnabled val="1"/>
        </dgm:presLayoutVars>
      </dgm:prSet>
      <dgm:spPr/>
    </dgm:pt>
    <dgm:pt modelId="{589D47C1-FBB0-F043-AC5C-4082C2B96CE4}" type="pres">
      <dgm:prSet presAssocID="{E98B3EB9-81EB-DC44-A7D1-78233435B74E}" presName="sp" presStyleCnt="0"/>
      <dgm:spPr/>
    </dgm:pt>
    <dgm:pt modelId="{BFE75E9A-AA7C-2849-80F3-B6E061A67AE1}" type="pres">
      <dgm:prSet presAssocID="{5E81FD40-710B-4C4D-97D8-7998824F8562}" presName="composite" presStyleCnt="0"/>
      <dgm:spPr/>
    </dgm:pt>
    <dgm:pt modelId="{47E948FA-54F2-4446-9F0C-9203AD7F6D54}" type="pres">
      <dgm:prSet presAssocID="{5E81FD40-710B-4C4D-97D8-7998824F8562}" presName="parentText" presStyleLbl="alignNode1" presStyleIdx="2" presStyleCnt="6">
        <dgm:presLayoutVars>
          <dgm:chMax val="1"/>
          <dgm:bulletEnabled val="1"/>
        </dgm:presLayoutVars>
      </dgm:prSet>
      <dgm:spPr/>
    </dgm:pt>
    <dgm:pt modelId="{616F2922-3580-7444-B848-91A21F62B428}" type="pres">
      <dgm:prSet presAssocID="{5E81FD40-710B-4C4D-97D8-7998824F8562}" presName="descendantText" presStyleLbl="alignAcc1" presStyleIdx="2" presStyleCnt="6">
        <dgm:presLayoutVars>
          <dgm:bulletEnabled val="1"/>
        </dgm:presLayoutVars>
      </dgm:prSet>
      <dgm:spPr/>
    </dgm:pt>
    <dgm:pt modelId="{E4BC86CD-6F47-9C4F-82A6-4E30A75E5250}" type="pres">
      <dgm:prSet presAssocID="{467F4450-B235-A144-84A3-B4F517C24B09}" presName="sp" presStyleCnt="0"/>
      <dgm:spPr/>
    </dgm:pt>
    <dgm:pt modelId="{98CF8189-37D4-974C-AE3B-C989FF7A8614}" type="pres">
      <dgm:prSet presAssocID="{7EC5C01B-06EB-D748-9765-C76BC73E2954}" presName="composite" presStyleCnt="0"/>
      <dgm:spPr/>
    </dgm:pt>
    <dgm:pt modelId="{D0260514-B68F-6741-A117-B0B648A53952}" type="pres">
      <dgm:prSet presAssocID="{7EC5C01B-06EB-D748-9765-C76BC73E2954}" presName="parentText" presStyleLbl="alignNode1" presStyleIdx="3" presStyleCnt="6">
        <dgm:presLayoutVars>
          <dgm:chMax val="1"/>
          <dgm:bulletEnabled val="1"/>
        </dgm:presLayoutVars>
      </dgm:prSet>
      <dgm:spPr/>
    </dgm:pt>
    <dgm:pt modelId="{27937ED3-491F-504B-8B68-CEE3762E709C}" type="pres">
      <dgm:prSet presAssocID="{7EC5C01B-06EB-D748-9765-C76BC73E2954}" presName="descendantText" presStyleLbl="alignAcc1" presStyleIdx="3" presStyleCnt="6">
        <dgm:presLayoutVars>
          <dgm:bulletEnabled val="1"/>
        </dgm:presLayoutVars>
      </dgm:prSet>
      <dgm:spPr/>
    </dgm:pt>
    <dgm:pt modelId="{784DDE3B-DB96-FA46-AD48-A1D089E13109}" type="pres">
      <dgm:prSet presAssocID="{DF547F08-35EA-D345-B265-6E38DEB9369D}" presName="sp" presStyleCnt="0"/>
      <dgm:spPr/>
    </dgm:pt>
    <dgm:pt modelId="{1912B19D-0536-BC42-A93D-166685944B85}" type="pres">
      <dgm:prSet presAssocID="{11663ACA-FB1B-B447-B6F4-FD0028D55FF8}" presName="composite" presStyleCnt="0"/>
      <dgm:spPr/>
    </dgm:pt>
    <dgm:pt modelId="{B1C87F48-8192-164F-BB36-9114B55DE787}" type="pres">
      <dgm:prSet presAssocID="{11663ACA-FB1B-B447-B6F4-FD0028D55FF8}" presName="parentText" presStyleLbl="alignNode1" presStyleIdx="4" presStyleCnt="6">
        <dgm:presLayoutVars>
          <dgm:chMax val="1"/>
          <dgm:bulletEnabled val="1"/>
        </dgm:presLayoutVars>
      </dgm:prSet>
      <dgm:spPr/>
    </dgm:pt>
    <dgm:pt modelId="{E5733DE1-DEAE-614D-B446-F7B2688C1CB1}" type="pres">
      <dgm:prSet presAssocID="{11663ACA-FB1B-B447-B6F4-FD0028D55FF8}" presName="descendantText" presStyleLbl="alignAcc1" presStyleIdx="4" presStyleCnt="6">
        <dgm:presLayoutVars>
          <dgm:bulletEnabled val="1"/>
        </dgm:presLayoutVars>
      </dgm:prSet>
      <dgm:spPr/>
    </dgm:pt>
    <dgm:pt modelId="{85A0BCAE-88C6-F24B-A349-0C57B83EA467}" type="pres">
      <dgm:prSet presAssocID="{8268209F-A54A-8E43-8E3F-EDCC95B7A2F0}" presName="sp" presStyleCnt="0"/>
      <dgm:spPr/>
    </dgm:pt>
    <dgm:pt modelId="{26BE6595-38B5-DD4D-9391-AE84197EEF0D}" type="pres">
      <dgm:prSet presAssocID="{396124A9-F5CB-1641-B0E2-07527E0AA560}" presName="composite" presStyleCnt="0"/>
      <dgm:spPr/>
    </dgm:pt>
    <dgm:pt modelId="{0A2E3FB2-2B67-7240-B828-219470737ED9}" type="pres">
      <dgm:prSet presAssocID="{396124A9-F5CB-1641-B0E2-07527E0AA560}" presName="parentText" presStyleLbl="alignNode1" presStyleIdx="5" presStyleCnt="6">
        <dgm:presLayoutVars>
          <dgm:chMax val="1"/>
          <dgm:bulletEnabled val="1"/>
        </dgm:presLayoutVars>
      </dgm:prSet>
      <dgm:spPr/>
    </dgm:pt>
    <dgm:pt modelId="{7197D21C-4F0A-DD48-9CBE-5C9C258696CF}" type="pres">
      <dgm:prSet presAssocID="{396124A9-F5CB-1641-B0E2-07527E0AA560}" presName="descendantText" presStyleLbl="alignAcc1" presStyleIdx="5" presStyleCnt="6">
        <dgm:presLayoutVars>
          <dgm:bulletEnabled val="1"/>
        </dgm:presLayoutVars>
      </dgm:prSet>
      <dgm:spPr/>
    </dgm:pt>
  </dgm:ptLst>
  <dgm:cxnLst>
    <dgm:cxn modelId="{D8ACA90E-02F0-8040-84A8-2696232E6307}" srcId="{7EC5C01B-06EB-D748-9765-C76BC73E2954}" destId="{7341CD8E-4714-8A41-AB62-9D8E63E6D76E}" srcOrd="0" destOrd="0" parTransId="{86C48EEA-4B5A-054B-BDF7-89655AC5F427}" sibTransId="{161861B5-6DF3-4F4D-81F8-231ECE9B23FB}"/>
    <dgm:cxn modelId="{7B207721-8404-8C4A-95B8-1D034AFA077E}" type="presOf" srcId="{7EC5C01B-06EB-D748-9765-C76BC73E2954}" destId="{D0260514-B68F-6741-A117-B0B648A53952}" srcOrd="0" destOrd="0" presId="urn:microsoft.com/office/officeart/2005/8/layout/chevron2"/>
    <dgm:cxn modelId="{43E5AD26-5AAD-5D4E-9E69-0EBA0B7D44D4}" srcId="{E202D600-BBF3-5341-8A71-BF041E75BD80}" destId="{051A76A9-E5B2-5A42-A24E-8C53DFB311E0}" srcOrd="0" destOrd="0" parTransId="{0D439EE9-B4E6-0F49-8238-0305AC97433A}" sibTransId="{A4D97A42-5133-2C4C-A77A-2D2D7E893F97}"/>
    <dgm:cxn modelId="{05110B2C-A9F7-6340-8FA2-032188B8B355}" type="presOf" srcId="{7341CD8E-4714-8A41-AB62-9D8E63E6D76E}" destId="{27937ED3-491F-504B-8B68-CEE3762E709C}" srcOrd="0" destOrd="0" presId="urn:microsoft.com/office/officeart/2005/8/layout/chevron2"/>
    <dgm:cxn modelId="{5E7D1F33-B313-B440-A873-77A2B63ACFB1}" srcId="{84410A9C-8D63-0E42-95A7-71F3D2FB0A15}" destId="{5E81FD40-710B-4C4D-97D8-7998824F8562}" srcOrd="2" destOrd="0" parTransId="{EA459193-E5ED-5C4B-88A8-220C2F75187D}" sibTransId="{467F4450-B235-A144-84A3-B4F517C24B09}"/>
    <dgm:cxn modelId="{F8AB3334-D9F0-094C-9BDE-5C753BDA19A9}" srcId="{396124A9-F5CB-1641-B0E2-07527E0AA560}" destId="{C2BE8756-F865-BA4F-BA49-2FC5B22FD898}" srcOrd="0" destOrd="0" parTransId="{351CC1B2-4BD5-8342-96C2-5227F7BBBCA4}" sibTransId="{D3A4E4AD-AD85-8848-BB84-7BFEAB9D615D}"/>
    <dgm:cxn modelId="{73FF1438-978A-F948-97F1-FEB1FC75A99E}" srcId="{84410A9C-8D63-0E42-95A7-71F3D2FB0A15}" destId="{11663ACA-FB1B-B447-B6F4-FD0028D55FF8}" srcOrd="4" destOrd="0" parTransId="{F8BA3F31-EBF3-BB4C-87B1-3FA53758E366}" sibTransId="{8268209F-A54A-8E43-8E3F-EDCC95B7A2F0}"/>
    <dgm:cxn modelId="{22473E3C-D03F-D349-9A78-473847927D5C}" type="presOf" srcId="{EDDFD131-9E7D-ED4C-8F6D-C8ED4187DDA9}" destId="{616F2922-3580-7444-B848-91A21F62B428}" srcOrd="0" destOrd="0" presId="urn:microsoft.com/office/officeart/2005/8/layout/chevron2"/>
    <dgm:cxn modelId="{BB67275E-8110-4F48-B39F-A39709D00145}" type="presOf" srcId="{AB41A2D6-C2F2-6B4C-9384-26712E60819D}" destId="{EA0263FA-92D6-3348-95F1-432FA8347B36}" srcOrd="0" destOrd="0" presId="urn:microsoft.com/office/officeart/2005/8/layout/chevron2"/>
    <dgm:cxn modelId="{D0179F63-B05B-E747-927E-2879F8C53424}" type="presOf" srcId="{E202D600-BBF3-5341-8A71-BF041E75BD80}" destId="{E143DB21-D331-AE40-BEB0-3ADD8767D894}" srcOrd="0" destOrd="0" presId="urn:microsoft.com/office/officeart/2005/8/layout/chevron2"/>
    <dgm:cxn modelId="{A899FE6C-F8C1-D946-9F83-0C317AAD7695}" type="presOf" srcId="{BB3B60C0-E963-8742-8623-5C3BADABD016}" destId="{952086F3-A69F-7248-B11A-0AE776B7A0F0}" srcOrd="0" destOrd="0" presId="urn:microsoft.com/office/officeart/2005/8/layout/chevron2"/>
    <dgm:cxn modelId="{498ED36E-B35D-2A4E-B4C7-93F9DC3EACFE}" srcId="{84410A9C-8D63-0E42-95A7-71F3D2FB0A15}" destId="{E202D600-BBF3-5341-8A71-BF041E75BD80}" srcOrd="1" destOrd="0" parTransId="{799EDDC0-06B6-D44C-A24E-17B8DCAB8FE1}" sibTransId="{E98B3EB9-81EB-DC44-A7D1-78233435B74E}"/>
    <dgm:cxn modelId="{320AA078-91C0-BD42-A4E2-2236C03029DB}" type="presOf" srcId="{396124A9-F5CB-1641-B0E2-07527E0AA560}" destId="{0A2E3FB2-2B67-7240-B828-219470737ED9}" srcOrd="0" destOrd="0" presId="urn:microsoft.com/office/officeart/2005/8/layout/chevron2"/>
    <dgm:cxn modelId="{03496783-8338-0C4C-9F9C-140AE7F4B739}" type="presOf" srcId="{84410A9C-8D63-0E42-95A7-71F3D2FB0A15}" destId="{CA3C4C57-9160-7C40-B9EC-95E8B9168C34}" srcOrd="0" destOrd="0" presId="urn:microsoft.com/office/officeart/2005/8/layout/chevron2"/>
    <dgm:cxn modelId="{353DB38E-0277-194F-BCB4-51CFF96F5D34}" type="presOf" srcId="{051A76A9-E5B2-5A42-A24E-8C53DFB311E0}" destId="{1648311B-9B8A-1E42-9D6F-13468E43F87E}" srcOrd="0" destOrd="0" presId="urn:microsoft.com/office/officeart/2005/8/layout/chevron2"/>
    <dgm:cxn modelId="{928A7591-C674-FF4F-857F-2ED751D5F75B}" type="presOf" srcId="{11663ACA-FB1B-B447-B6F4-FD0028D55FF8}" destId="{B1C87F48-8192-164F-BB36-9114B55DE787}" srcOrd="0" destOrd="0" presId="urn:microsoft.com/office/officeart/2005/8/layout/chevron2"/>
    <dgm:cxn modelId="{BCF5949B-8AC6-CC4B-8EF2-7C427602B6E8}" type="presOf" srcId="{5E81FD40-710B-4C4D-97D8-7998824F8562}" destId="{47E948FA-54F2-4446-9F0C-9203AD7F6D54}" srcOrd="0" destOrd="0" presId="urn:microsoft.com/office/officeart/2005/8/layout/chevron2"/>
    <dgm:cxn modelId="{D41C9DA9-CE94-834D-8F09-5876763F373D}" srcId="{BB3B60C0-E963-8742-8623-5C3BADABD016}" destId="{AB41A2D6-C2F2-6B4C-9384-26712E60819D}" srcOrd="0" destOrd="0" parTransId="{E33ABF2F-6B52-9041-92BB-32644902F405}" sibTransId="{C75F3C13-352F-DD48-87B0-1AC2305E0514}"/>
    <dgm:cxn modelId="{D107CCAA-E9BC-8C42-91E0-95BAB612B5DE}" srcId="{84410A9C-8D63-0E42-95A7-71F3D2FB0A15}" destId="{7EC5C01B-06EB-D748-9765-C76BC73E2954}" srcOrd="3" destOrd="0" parTransId="{98ED9371-3F24-2342-983A-B6ADD2D21FF0}" sibTransId="{DF547F08-35EA-D345-B265-6E38DEB9369D}"/>
    <dgm:cxn modelId="{D2114CAD-E25B-8E4C-B9D6-A29E24FC1CFD}" type="presOf" srcId="{C2BE8756-F865-BA4F-BA49-2FC5B22FD898}" destId="{7197D21C-4F0A-DD48-9CBE-5C9C258696CF}" srcOrd="0" destOrd="0" presId="urn:microsoft.com/office/officeart/2005/8/layout/chevron2"/>
    <dgm:cxn modelId="{F6CCB2C5-0749-444C-B75F-DAD374D22CA9}" srcId="{5E81FD40-710B-4C4D-97D8-7998824F8562}" destId="{EDDFD131-9E7D-ED4C-8F6D-C8ED4187DDA9}" srcOrd="0" destOrd="0" parTransId="{2EA1879F-8FB1-4A4C-9E4A-257318E2E72E}" sibTransId="{F38D6DAD-C97E-2740-855D-1D571EE12D5E}"/>
    <dgm:cxn modelId="{F6174CE1-9394-0340-973D-EFB0461A8785}" type="presOf" srcId="{75A74BCC-E2AA-9C4D-9AA0-30CCB2D943DA}" destId="{E5733DE1-DEAE-614D-B446-F7B2688C1CB1}" srcOrd="0" destOrd="0" presId="urn:microsoft.com/office/officeart/2005/8/layout/chevron2"/>
    <dgm:cxn modelId="{2EB032E2-2F14-CD4A-87AB-5F708DEB89ED}" srcId="{11663ACA-FB1B-B447-B6F4-FD0028D55FF8}" destId="{75A74BCC-E2AA-9C4D-9AA0-30CCB2D943DA}" srcOrd="0" destOrd="0" parTransId="{4F58E390-30D5-D448-9E6D-9DDF974CDFC2}" sibTransId="{7F8B21A9-B568-8442-8ED6-1282250AE46F}"/>
    <dgm:cxn modelId="{887CC3ED-443E-E247-A1BC-A0C02F9BA162}" srcId="{84410A9C-8D63-0E42-95A7-71F3D2FB0A15}" destId="{396124A9-F5CB-1641-B0E2-07527E0AA560}" srcOrd="5" destOrd="0" parTransId="{96125894-FF9F-8442-9C3F-91EADA858D78}" sibTransId="{2DA81507-71E2-3449-BE6E-B704991EA2BA}"/>
    <dgm:cxn modelId="{6269DFFC-241C-9C4F-AA17-86323D0D982A}" srcId="{84410A9C-8D63-0E42-95A7-71F3D2FB0A15}" destId="{BB3B60C0-E963-8742-8623-5C3BADABD016}" srcOrd="0" destOrd="0" parTransId="{4127A044-2F1A-4245-BE9D-7EDBC5B8CF6B}" sibTransId="{217C66ED-646B-9646-B464-CF4534F1DF27}"/>
    <dgm:cxn modelId="{5A710ED4-F5E8-B946-A22F-410648B3EA2A}" type="presParOf" srcId="{CA3C4C57-9160-7C40-B9EC-95E8B9168C34}" destId="{BE42ECA8-47FD-C842-99D8-CC8E7E881B5F}" srcOrd="0" destOrd="0" presId="urn:microsoft.com/office/officeart/2005/8/layout/chevron2"/>
    <dgm:cxn modelId="{574A89DA-5D25-EA41-901D-EEBBDE7D8BF8}" type="presParOf" srcId="{BE42ECA8-47FD-C842-99D8-CC8E7E881B5F}" destId="{952086F3-A69F-7248-B11A-0AE776B7A0F0}" srcOrd="0" destOrd="0" presId="urn:microsoft.com/office/officeart/2005/8/layout/chevron2"/>
    <dgm:cxn modelId="{3CBFC4AC-B0B2-B443-BB55-E2CD6C7B26F6}" type="presParOf" srcId="{BE42ECA8-47FD-C842-99D8-CC8E7E881B5F}" destId="{EA0263FA-92D6-3348-95F1-432FA8347B36}" srcOrd="1" destOrd="0" presId="urn:microsoft.com/office/officeart/2005/8/layout/chevron2"/>
    <dgm:cxn modelId="{03635750-2114-9944-A60C-D25B3FE0AF7F}" type="presParOf" srcId="{CA3C4C57-9160-7C40-B9EC-95E8B9168C34}" destId="{D843C436-3F4A-5A43-AED2-F73A63F1440A}" srcOrd="1" destOrd="0" presId="urn:microsoft.com/office/officeart/2005/8/layout/chevron2"/>
    <dgm:cxn modelId="{C6EC5779-8F4E-C645-8545-7C40B9492D18}" type="presParOf" srcId="{CA3C4C57-9160-7C40-B9EC-95E8B9168C34}" destId="{958FEAD4-69A5-7D4B-8B3F-19C87CAB56FF}" srcOrd="2" destOrd="0" presId="urn:microsoft.com/office/officeart/2005/8/layout/chevron2"/>
    <dgm:cxn modelId="{2AA963AF-32ED-3347-80AA-7E21A4A37D47}" type="presParOf" srcId="{958FEAD4-69A5-7D4B-8B3F-19C87CAB56FF}" destId="{E143DB21-D331-AE40-BEB0-3ADD8767D894}" srcOrd="0" destOrd="0" presId="urn:microsoft.com/office/officeart/2005/8/layout/chevron2"/>
    <dgm:cxn modelId="{7148920C-BC8A-A24A-95F0-E6935E132FE0}" type="presParOf" srcId="{958FEAD4-69A5-7D4B-8B3F-19C87CAB56FF}" destId="{1648311B-9B8A-1E42-9D6F-13468E43F87E}" srcOrd="1" destOrd="0" presId="urn:microsoft.com/office/officeart/2005/8/layout/chevron2"/>
    <dgm:cxn modelId="{7BDD8E5A-0C80-ED49-84EA-FD77796B5BD4}" type="presParOf" srcId="{CA3C4C57-9160-7C40-B9EC-95E8B9168C34}" destId="{589D47C1-FBB0-F043-AC5C-4082C2B96CE4}" srcOrd="3" destOrd="0" presId="urn:microsoft.com/office/officeart/2005/8/layout/chevron2"/>
    <dgm:cxn modelId="{6BA24341-96E6-CE4A-85C4-986C9C8DFCA7}" type="presParOf" srcId="{CA3C4C57-9160-7C40-B9EC-95E8B9168C34}" destId="{BFE75E9A-AA7C-2849-80F3-B6E061A67AE1}" srcOrd="4" destOrd="0" presId="urn:microsoft.com/office/officeart/2005/8/layout/chevron2"/>
    <dgm:cxn modelId="{1E06B36E-739A-D240-A854-19AF63731927}" type="presParOf" srcId="{BFE75E9A-AA7C-2849-80F3-B6E061A67AE1}" destId="{47E948FA-54F2-4446-9F0C-9203AD7F6D54}" srcOrd="0" destOrd="0" presId="urn:microsoft.com/office/officeart/2005/8/layout/chevron2"/>
    <dgm:cxn modelId="{A8064F24-F28C-F743-BEC5-259E551C8FEA}" type="presParOf" srcId="{BFE75E9A-AA7C-2849-80F3-B6E061A67AE1}" destId="{616F2922-3580-7444-B848-91A21F62B428}" srcOrd="1" destOrd="0" presId="urn:microsoft.com/office/officeart/2005/8/layout/chevron2"/>
    <dgm:cxn modelId="{97A4A8A1-6D6E-6E4B-8A16-B0225A6CAEA7}" type="presParOf" srcId="{CA3C4C57-9160-7C40-B9EC-95E8B9168C34}" destId="{E4BC86CD-6F47-9C4F-82A6-4E30A75E5250}" srcOrd="5" destOrd="0" presId="urn:microsoft.com/office/officeart/2005/8/layout/chevron2"/>
    <dgm:cxn modelId="{FF8E6EE2-20A4-854E-9829-5FBED96407E5}" type="presParOf" srcId="{CA3C4C57-9160-7C40-B9EC-95E8B9168C34}" destId="{98CF8189-37D4-974C-AE3B-C989FF7A8614}" srcOrd="6" destOrd="0" presId="urn:microsoft.com/office/officeart/2005/8/layout/chevron2"/>
    <dgm:cxn modelId="{98ABBAD4-CE87-724C-9DDD-D9F8F19E30E7}" type="presParOf" srcId="{98CF8189-37D4-974C-AE3B-C989FF7A8614}" destId="{D0260514-B68F-6741-A117-B0B648A53952}" srcOrd="0" destOrd="0" presId="urn:microsoft.com/office/officeart/2005/8/layout/chevron2"/>
    <dgm:cxn modelId="{854B95A4-92DE-C740-BD51-94ECE189530B}" type="presParOf" srcId="{98CF8189-37D4-974C-AE3B-C989FF7A8614}" destId="{27937ED3-491F-504B-8B68-CEE3762E709C}" srcOrd="1" destOrd="0" presId="urn:microsoft.com/office/officeart/2005/8/layout/chevron2"/>
    <dgm:cxn modelId="{6FDFBF35-BEA9-4F47-BFEA-987586D813B8}" type="presParOf" srcId="{CA3C4C57-9160-7C40-B9EC-95E8B9168C34}" destId="{784DDE3B-DB96-FA46-AD48-A1D089E13109}" srcOrd="7" destOrd="0" presId="urn:microsoft.com/office/officeart/2005/8/layout/chevron2"/>
    <dgm:cxn modelId="{FB24210C-DF59-5F43-9576-9768F994D05C}" type="presParOf" srcId="{CA3C4C57-9160-7C40-B9EC-95E8B9168C34}" destId="{1912B19D-0536-BC42-A93D-166685944B85}" srcOrd="8" destOrd="0" presId="urn:microsoft.com/office/officeart/2005/8/layout/chevron2"/>
    <dgm:cxn modelId="{E67A2ED1-27AC-304D-A8A8-CE6FE9583DB1}" type="presParOf" srcId="{1912B19D-0536-BC42-A93D-166685944B85}" destId="{B1C87F48-8192-164F-BB36-9114B55DE787}" srcOrd="0" destOrd="0" presId="urn:microsoft.com/office/officeart/2005/8/layout/chevron2"/>
    <dgm:cxn modelId="{C6B30082-40BC-3641-88E9-A057CF4438C8}" type="presParOf" srcId="{1912B19D-0536-BC42-A93D-166685944B85}" destId="{E5733DE1-DEAE-614D-B446-F7B2688C1CB1}" srcOrd="1" destOrd="0" presId="urn:microsoft.com/office/officeart/2005/8/layout/chevron2"/>
    <dgm:cxn modelId="{B0366824-E653-8D4E-ACC9-465931DED430}" type="presParOf" srcId="{CA3C4C57-9160-7C40-B9EC-95E8B9168C34}" destId="{85A0BCAE-88C6-F24B-A349-0C57B83EA467}" srcOrd="9" destOrd="0" presId="urn:microsoft.com/office/officeart/2005/8/layout/chevron2"/>
    <dgm:cxn modelId="{07C3EA73-FAA5-9642-A8A1-F501BC5FAEB3}" type="presParOf" srcId="{CA3C4C57-9160-7C40-B9EC-95E8B9168C34}" destId="{26BE6595-38B5-DD4D-9391-AE84197EEF0D}" srcOrd="10" destOrd="0" presId="urn:microsoft.com/office/officeart/2005/8/layout/chevron2"/>
    <dgm:cxn modelId="{49FDE302-FB17-8A43-AD5D-C18B1725D873}" type="presParOf" srcId="{26BE6595-38B5-DD4D-9391-AE84197EEF0D}" destId="{0A2E3FB2-2B67-7240-B828-219470737ED9}" srcOrd="0" destOrd="0" presId="urn:microsoft.com/office/officeart/2005/8/layout/chevron2"/>
    <dgm:cxn modelId="{23971717-594C-7843-A497-C6F46FDDED49}" type="presParOf" srcId="{26BE6595-38B5-DD4D-9391-AE84197EEF0D}" destId="{7197D21C-4F0A-DD48-9CBE-5C9C258696CF}"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5DD30A4-8F74-4B67-940A-E013F59F7689}" type="doc">
      <dgm:prSet loTypeId="urn:microsoft.com/office/officeart/2005/8/layout/vList2" loCatId="list" qsTypeId="urn:microsoft.com/office/officeart/2005/8/quickstyle/simple2" qsCatId="simple" csTypeId="urn:microsoft.com/office/officeart/2005/8/colors/colorful1" csCatId="colorful" phldr="1"/>
      <dgm:spPr/>
      <dgm:t>
        <a:bodyPr/>
        <a:lstStyle/>
        <a:p>
          <a:endParaRPr lang="en-US"/>
        </a:p>
      </dgm:t>
    </dgm:pt>
    <dgm:pt modelId="{3B6FE5F3-8611-42CA-B9FF-8D891C1441D3}">
      <dgm:prSet custT="1"/>
      <dgm:spPr>
        <a:solidFill>
          <a:schemeClr val="accent2"/>
        </a:solidFill>
      </dgm:spPr>
      <dgm:t>
        <a:bodyPr/>
        <a:lstStyle/>
        <a:p>
          <a:r>
            <a:rPr lang="en-US" sz="4000" dirty="0"/>
            <a:t>Guiding Questions:</a:t>
          </a:r>
        </a:p>
      </dgm:t>
    </dgm:pt>
    <dgm:pt modelId="{A3543803-C916-4791-9C31-1266E6DD21C3}" type="parTrans" cxnId="{1F5B4A17-B504-4846-A56D-20F10FCC5712}">
      <dgm:prSet/>
      <dgm:spPr/>
      <dgm:t>
        <a:bodyPr/>
        <a:lstStyle/>
        <a:p>
          <a:endParaRPr lang="en-US" sz="2800"/>
        </a:p>
      </dgm:t>
    </dgm:pt>
    <dgm:pt modelId="{981D878F-B6D1-4801-B408-D26A3F10253A}" type="sibTrans" cxnId="{1F5B4A17-B504-4846-A56D-20F10FCC5712}">
      <dgm:prSet/>
      <dgm:spPr/>
      <dgm:t>
        <a:bodyPr/>
        <a:lstStyle/>
        <a:p>
          <a:endParaRPr lang="en-US" sz="2800"/>
        </a:p>
      </dgm:t>
    </dgm:pt>
    <dgm:pt modelId="{2FB8B234-5811-2746-B24F-6A3A17940509}">
      <dgm:prSet custT="1"/>
      <dgm:spPr/>
      <dgm:t>
        <a:bodyPr/>
        <a:lstStyle/>
        <a:p>
          <a:r>
            <a:rPr lang="en-US" sz="3200" dirty="0"/>
            <a:t>What is the optimal number of clusters?</a:t>
          </a:r>
        </a:p>
      </dgm:t>
    </dgm:pt>
    <dgm:pt modelId="{7B4D4C69-D1CC-3D4B-AD5E-BFAD6F959FF3}" type="parTrans" cxnId="{20AB8EE3-D528-6842-A6F8-C4F6B5AB1C8B}">
      <dgm:prSet/>
      <dgm:spPr/>
      <dgm:t>
        <a:bodyPr/>
        <a:lstStyle/>
        <a:p>
          <a:endParaRPr lang="en-US" sz="2800"/>
        </a:p>
      </dgm:t>
    </dgm:pt>
    <dgm:pt modelId="{3AB59A83-0472-734A-A743-9D707E74301A}" type="sibTrans" cxnId="{20AB8EE3-D528-6842-A6F8-C4F6B5AB1C8B}">
      <dgm:prSet/>
      <dgm:spPr/>
      <dgm:t>
        <a:bodyPr/>
        <a:lstStyle/>
        <a:p>
          <a:endParaRPr lang="en-US" sz="2800"/>
        </a:p>
      </dgm:t>
    </dgm:pt>
    <dgm:pt modelId="{BB59846B-E701-3D4A-9228-B3F1895D5D24}">
      <dgm:prSet custT="1"/>
      <dgm:spPr/>
      <dgm:t>
        <a:bodyPr/>
        <a:lstStyle/>
        <a:p>
          <a:r>
            <a:rPr lang="en-US" sz="3200" dirty="0"/>
            <a:t>What natural groups appear in the data?</a:t>
          </a:r>
        </a:p>
      </dgm:t>
    </dgm:pt>
    <dgm:pt modelId="{20A0867B-399E-504D-827F-3AE49CB1EE64}" type="parTrans" cxnId="{EE6BCDED-C5B4-FD4F-BDBF-9605CE12EB51}">
      <dgm:prSet/>
      <dgm:spPr/>
      <dgm:t>
        <a:bodyPr/>
        <a:lstStyle/>
        <a:p>
          <a:endParaRPr lang="en-US" sz="2800"/>
        </a:p>
      </dgm:t>
    </dgm:pt>
    <dgm:pt modelId="{FEE36924-E3ED-9B4F-A0B8-FFE0F7F705C3}" type="sibTrans" cxnId="{EE6BCDED-C5B4-FD4F-BDBF-9605CE12EB51}">
      <dgm:prSet/>
      <dgm:spPr/>
      <dgm:t>
        <a:bodyPr/>
        <a:lstStyle/>
        <a:p>
          <a:endParaRPr lang="en-US" sz="2800"/>
        </a:p>
      </dgm:t>
    </dgm:pt>
    <dgm:pt modelId="{1F1A3D9C-358C-8548-9169-A8784808519F}">
      <dgm:prSet custT="1"/>
      <dgm:spPr/>
      <dgm:t>
        <a:bodyPr/>
        <a:lstStyle/>
        <a:p>
          <a:r>
            <a:rPr lang="en-US" sz="3200" dirty="0"/>
            <a:t>What characteristics define these groups?</a:t>
          </a:r>
        </a:p>
      </dgm:t>
    </dgm:pt>
    <dgm:pt modelId="{84662DB1-D7F1-5C4D-A8DF-FAB5DFA3B124}" type="parTrans" cxnId="{BBB04118-9589-6F46-A72B-B2DFD5F60711}">
      <dgm:prSet/>
      <dgm:spPr/>
      <dgm:t>
        <a:bodyPr/>
        <a:lstStyle/>
        <a:p>
          <a:endParaRPr lang="en-US" sz="2800"/>
        </a:p>
      </dgm:t>
    </dgm:pt>
    <dgm:pt modelId="{CD596D29-68B1-0143-B788-7EF8D0357CC2}" type="sibTrans" cxnId="{BBB04118-9589-6F46-A72B-B2DFD5F60711}">
      <dgm:prSet/>
      <dgm:spPr/>
      <dgm:t>
        <a:bodyPr/>
        <a:lstStyle/>
        <a:p>
          <a:endParaRPr lang="en-US" sz="2800"/>
        </a:p>
      </dgm:t>
    </dgm:pt>
    <dgm:pt modelId="{6FC18286-B088-0D4A-A04E-30ABFB964352}">
      <dgm:prSet custT="1"/>
      <dgm:spPr/>
      <dgm:t>
        <a:bodyPr/>
        <a:lstStyle/>
        <a:p>
          <a:r>
            <a:rPr lang="en-US" sz="3200" dirty="0"/>
            <a:t>Are any clusters unusual or requiring further investigation?</a:t>
          </a:r>
        </a:p>
      </dgm:t>
    </dgm:pt>
    <dgm:pt modelId="{553684BE-D4E4-AE43-A19D-F1E6AADD93A2}" type="parTrans" cxnId="{DFE0733C-76A6-0149-9A59-F6DC66204EBD}">
      <dgm:prSet/>
      <dgm:spPr/>
      <dgm:t>
        <a:bodyPr/>
        <a:lstStyle/>
        <a:p>
          <a:endParaRPr lang="en-US" sz="2800"/>
        </a:p>
      </dgm:t>
    </dgm:pt>
    <dgm:pt modelId="{A23AD5B5-4F9F-D543-8619-C2F193866212}" type="sibTrans" cxnId="{DFE0733C-76A6-0149-9A59-F6DC66204EBD}">
      <dgm:prSet/>
      <dgm:spPr/>
      <dgm:t>
        <a:bodyPr/>
        <a:lstStyle/>
        <a:p>
          <a:endParaRPr lang="en-US" sz="2800"/>
        </a:p>
      </dgm:t>
    </dgm:pt>
    <dgm:pt modelId="{AAA3D419-C63B-A444-B82D-47DA2C6F55E1}" type="pres">
      <dgm:prSet presAssocID="{45DD30A4-8F74-4B67-940A-E013F59F7689}" presName="linear" presStyleCnt="0">
        <dgm:presLayoutVars>
          <dgm:animLvl val="lvl"/>
          <dgm:resizeHandles val="exact"/>
        </dgm:presLayoutVars>
      </dgm:prSet>
      <dgm:spPr/>
    </dgm:pt>
    <dgm:pt modelId="{BFC4049A-E4B3-A34E-B1AD-E67C8350E010}" type="pres">
      <dgm:prSet presAssocID="{3B6FE5F3-8611-42CA-B9FF-8D891C1441D3}" presName="parentText" presStyleLbl="node1" presStyleIdx="0" presStyleCnt="1" custScaleY="53019" custLinFactNeighborY="-15783">
        <dgm:presLayoutVars>
          <dgm:chMax val="0"/>
          <dgm:bulletEnabled val="1"/>
        </dgm:presLayoutVars>
      </dgm:prSet>
      <dgm:spPr/>
    </dgm:pt>
    <dgm:pt modelId="{9D6F8D81-1036-454E-99D4-925B0B74A18D}" type="pres">
      <dgm:prSet presAssocID="{3B6FE5F3-8611-42CA-B9FF-8D891C1441D3}" presName="childText" presStyleLbl="revTx" presStyleIdx="0" presStyleCnt="1">
        <dgm:presLayoutVars>
          <dgm:bulletEnabled val="1"/>
        </dgm:presLayoutVars>
      </dgm:prSet>
      <dgm:spPr/>
    </dgm:pt>
  </dgm:ptLst>
  <dgm:cxnLst>
    <dgm:cxn modelId="{C13A1417-9902-164F-8495-83D73D5C932D}" type="presOf" srcId="{1F1A3D9C-358C-8548-9169-A8784808519F}" destId="{9D6F8D81-1036-454E-99D4-925B0B74A18D}" srcOrd="0" destOrd="2" presId="urn:microsoft.com/office/officeart/2005/8/layout/vList2"/>
    <dgm:cxn modelId="{1F5B4A17-B504-4846-A56D-20F10FCC5712}" srcId="{45DD30A4-8F74-4B67-940A-E013F59F7689}" destId="{3B6FE5F3-8611-42CA-B9FF-8D891C1441D3}" srcOrd="0" destOrd="0" parTransId="{A3543803-C916-4791-9C31-1266E6DD21C3}" sibTransId="{981D878F-B6D1-4801-B408-D26A3F10253A}"/>
    <dgm:cxn modelId="{BBB04118-9589-6F46-A72B-B2DFD5F60711}" srcId="{3B6FE5F3-8611-42CA-B9FF-8D891C1441D3}" destId="{1F1A3D9C-358C-8548-9169-A8784808519F}" srcOrd="2" destOrd="0" parTransId="{84662DB1-D7F1-5C4D-A8DF-FAB5DFA3B124}" sibTransId="{CD596D29-68B1-0143-B788-7EF8D0357CC2}"/>
    <dgm:cxn modelId="{DFE0733C-76A6-0149-9A59-F6DC66204EBD}" srcId="{3B6FE5F3-8611-42CA-B9FF-8D891C1441D3}" destId="{6FC18286-B088-0D4A-A04E-30ABFB964352}" srcOrd="3" destOrd="0" parTransId="{553684BE-D4E4-AE43-A19D-F1E6AADD93A2}" sibTransId="{A23AD5B5-4F9F-D543-8619-C2F193866212}"/>
    <dgm:cxn modelId="{CF272978-56A0-DA48-9A68-20F270E5F661}" type="presOf" srcId="{2FB8B234-5811-2746-B24F-6A3A17940509}" destId="{9D6F8D81-1036-454E-99D4-925B0B74A18D}" srcOrd="0" destOrd="0" presId="urn:microsoft.com/office/officeart/2005/8/layout/vList2"/>
    <dgm:cxn modelId="{41C6A77A-1A6A-F044-A945-D723DB8D02B7}" type="presOf" srcId="{3B6FE5F3-8611-42CA-B9FF-8D891C1441D3}" destId="{BFC4049A-E4B3-A34E-B1AD-E67C8350E010}" srcOrd="0" destOrd="0" presId="urn:microsoft.com/office/officeart/2005/8/layout/vList2"/>
    <dgm:cxn modelId="{B1F344B4-3F35-9745-B74E-AE33BD4C30C1}" type="presOf" srcId="{6FC18286-B088-0D4A-A04E-30ABFB964352}" destId="{9D6F8D81-1036-454E-99D4-925B0B74A18D}" srcOrd="0" destOrd="3" presId="urn:microsoft.com/office/officeart/2005/8/layout/vList2"/>
    <dgm:cxn modelId="{20AB8EE3-D528-6842-A6F8-C4F6B5AB1C8B}" srcId="{3B6FE5F3-8611-42CA-B9FF-8D891C1441D3}" destId="{2FB8B234-5811-2746-B24F-6A3A17940509}" srcOrd="0" destOrd="0" parTransId="{7B4D4C69-D1CC-3D4B-AD5E-BFAD6F959FF3}" sibTransId="{3AB59A83-0472-734A-A743-9D707E74301A}"/>
    <dgm:cxn modelId="{EE6BCDED-C5B4-FD4F-BDBF-9605CE12EB51}" srcId="{3B6FE5F3-8611-42CA-B9FF-8D891C1441D3}" destId="{BB59846B-E701-3D4A-9228-B3F1895D5D24}" srcOrd="1" destOrd="0" parTransId="{20A0867B-399E-504D-827F-3AE49CB1EE64}" sibTransId="{FEE36924-E3ED-9B4F-A0B8-FFE0F7F705C3}"/>
    <dgm:cxn modelId="{53EF13F1-92E3-8A43-B3E7-BD29DDE92CF6}" type="presOf" srcId="{45DD30A4-8F74-4B67-940A-E013F59F7689}" destId="{AAA3D419-C63B-A444-B82D-47DA2C6F55E1}" srcOrd="0" destOrd="0" presId="urn:microsoft.com/office/officeart/2005/8/layout/vList2"/>
    <dgm:cxn modelId="{86C845F5-F51E-4E4C-8AD7-1C9E51BE5FC7}" type="presOf" srcId="{BB59846B-E701-3D4A-9228-B3F1895D5D24}" destId="{9D6F8D81-1036-454E-99D4-925B0B74A18D}" srcOrd="0" destOrd="1" presId="urn:microsoft.com/office/officeart/2005/8/layout/vList2"/>
    <dgm:cxn modelId="{1C3E1333-3BAF-7F40-A2D7-B1F1D374AD30}" type="presParOf" srcId="{AAA3D419-C63B-A444-B82D-47DA2C6F55E1}" destId="{BFC4049A-E4B3-A34E-B1AD-E67C8350E010}" srcOrd="0" destOrd="0" presId="urn:microsoft.com/office/officeart/2005/8/layout/vList2"/>
    <dgm:cxn modelId="{E5065D44-DD4C-BD4C-B628-1E4A061230A5}" type="presParOf" srcId="{AAA3D419-C63B-A444-B82D-47DA2C6F55E1}" destId="{9D6F8D81-1036-454E-99D4-925B0B74A18D}" srcOrd="1"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AD9B28-1C3A-D648-A51F-B0B88C26B570}" type="doc">
      <dgm:prSet loTypeId="urn:microsoft.com/office/officeart/2005/8/layout/list1" loCatId="" qsTypeId="urn:microsoft.com/office/officeart/2005/8/quickstyle/simple2" qsCatId="simple" csTypeId="urn:microsoft.com/office/officeart/2005/8/colors/colorful1" csCatId="colorful" phldr="1"/>
      <dgm:spPr/>
      <dgm:t>
        <a:bodyPr/>
        <a:lstStyle/>
        <a:p>
          <a:endParaRPr lang="en-US"/>
        </a:p>
      </dgm:t>
    </dgm:pt>
    <dgm:pt modelId="{55AB22B7-38F4-544C-9C89-2E6AB40A4DB6}">
      <dgm:prSet custT="1"/>
      <dgm:spPr/>
      <dgm:t>
        <a:bodyPr/>
        <a:lstStyle/>
        <a:p>
          <a:pPr algn="ctr"/>
          <a:r>
            <a:rPr lang="en-US" sz="3600" b="1" i="0" baseline="0" dirty="0"/>
            <a:t>Cluster Sizes:</a:t>
          </a:r>
          <a:endParaRPr lang="en-US" sz="3600" dirty="0"/>
        </a:p>
      </dgm:t>
    </dgm:pt>
    <dgm:pt modelId="{8CDAB544-8E36-D647-BA55-B76DAA234171}" type="parTrans" cxnId="{73CE3A64-72DD-D64C-AC27-61FFCAE84189}">
      <dgm:prSet/>
      <dgm:spPr/>
      <dgm:t>
        <a:bodyPr/>
        <a:lstStyle/>
        <a:p>
          <a:endParaRPr lang="en-US"/>
        </a:p>
      </dgm:t>
    </dgm:pt>
    <dgm:pt modelId="{3D5C308E-E97F-4049-9AF2-1F48F02B93EC}" type="sibTrans" cxnId="{73CE3A64-72DD-D64C-AC27-61FFCAE84189}">
      <dgm:prSet/>
      <dgm:spPr/>
      <dgm:t>
        <a:bodyPr/>
        <a:lstStyle/>
        <a:p>
          <a:endParaRPr lang="en-US"/>
        </a:p>
      </dgm:t>
    </dgm:pt>
    <dgm:pt modelId="{A1852229-E134-9644-97B4-AC036B40DF9E}">
      <dgm:prSet/>
      <dgm:spPr/>
      <dgm:t>
        <a:bodyPr/>
        <a:lstStyle/>
        <a:p>
          <a:r>
            <a:rPr lang="en-US" b="0" i="0" baseline="0" dirty="0"/>
            <a:t>Cluster 1 </a:t>
          </a:r>
          <a:r>
            <a:rPr lang="en-US" b="0" i="0" u="none" dirty="0"/>
            <a:t>High Output Nuclear and Coal</a:t>
          </a:r>
          <a:r>
            <a:rPr lang="en-US" b="0" i="0" baseline="0" dirty="0"/>
            <a:t>: 156 plants</a:t>
          </a:r>
          <a:endParaRPr lang="en-US" dirty="0"/>
        </a:p>
      </dgm:t>
    </dgm:pt>
    <dgm:pt modelId="{45A5B89A-DA06-6F4A-B495-BFD0577A059C}" type="parTrans" cxnId="{2E40C5DB-4FEC-D841-A447-B2D9D9B96C8E}">
      <dgm:prSet/>
      <dgm:spPr/>
      <dgm:t>
        <a:bodyPr/>
        <a:lstStyle/>
        <a:p>
          <a:endParaRPr lang="en-US"/>
        </a:p>
      </dgm:t>
    </dgm:pt>
    <dgm:pt modelId="{FD45393E-D700-9049-BAFC-01DFC28C3706}" type="sibTrans" cxnId="{2E40C5DB-4FEC-D841-A447-B2D9D9B96C8E}">
      <dgm:prSet/>
      <dgm:spPr/>
      <dgm:t>
        <a:bodyPr/>
        <a:lstStyle/>
        <a:p>
          <a:endParaRPr lang="en-US"/>
        </a:p>
      </dgm:t>
    </dgm:pt>
    <dgm:pt modelId="{4D4E5906-53FA-5D44-A212-212B901639EC}">
      <dgm:prSet/>
      <dgm:spPr/>
      <dgm:t>
        <a:bodyPr/>
        <a:lstStyle/>
        <a:p>
          <a:r>
            <a:rPr lang="en-US" b="0" i="0" baseline="0" dirty="0"/>
            <a:t>Cluster 2 </a:t>
          </a:r>
          <a:r>
            <a:rPr lang="en-US" b="0" i="0" u="none" dirty="0"/>
            <a:t>Natural Gas</a:t>
          </a:r>
          <a:r>
            <a:rPr lang="en-US" b="0" i="0" baseline="0" dirty="0"/>
            <a:t>: 305 plants</a:t>
          </a:r>
          <a:endParaRPr lang="en-US" dirty="0"/>
        </a:p>
      </dgm:t>
    </dgm:pt>
    <dgm:pt modelId="{B5FD8D6E-0F37-1948-B1A5-622DC6DEC7A7}" type="parTrans" cxnId="{AD6F0A0E-C556-8D49-83B9-A62F01258F86}">
      <dgm:prSet/>
      <dgm:spPr/>
      <dgm:t>
        <a:bodyPr/>
        <a:lstStyle/>
        <a:p>
          <a:endParaRPr lang="en-US"/>
        </a:p>
      </dgm:t>
    </dgm:pt>
    <dgm:pt modelId="{2B71A761-AA57-724F-A777-56EFBA20F936}" type="sibTrans" cxnId="{AD6F0A0E-C556-8D49-83B9-A62F01258F86}">
      <dgm:prSet/>
      <dgm:spPr/>
      <dgm:t>
        <a:bodyPr/>
        <a:lstStyle/>
        <a:p>
          <a:endParaRPr lang="en-US"/>
        </a:p>
      </dgm:t>
    </dgm:pt>
    <dgm:pt modelId="{748C6207-F8E3-AF4C-9C5F-528C23E35229}">
      <dgm:prSet/>
      <dgm:spPr/>
      <dgm:t>
        <a:bodyPr/>
        <a:lstStyle/>
        <a:p>
          <a:r>
            <a:rPr lang="en-US" b="0" i="0" baseline="0" dirty="0"/>
            <a:t>Cluster 3 Solar: 16,643 plants</a:t>
          </a:r>
          <a:endParaRPr lang="en-US" dirty="0"/>
        </a:p>
      </dgm:t>
    </dgm:pt>
    <dgm:pt modelId="{FB7F356C-428E-9C44-BD93-857750B975CE}" type="parTrans" cxnId="{88035BCE-36CC-A041-AFE3-B7401B57EEB1}">
      <dgm:prSet/>
      <dgm:spPr/>
      <dgm:t>
        <a:bodyPr/>
        <a:lstStyle/>
        <a:p>
          <a:endParaRPr lang="en-US"/>
        </a:p>
      </dgm:t>
    </dgm:pt>
    <dgm:pt modelId="{21EC7610-0A77-F84D-A423-900FBD3A7443}" type="sibTrans" cxnId="{88035BCE-36CC-A041-AFE3-B7401B57EEB1}">
      <dgm:prSet/>
      <dgm:spPr/>
      <dgm:t>
        <a:bodyPr/>
        <a:lstStyle/>
        <a:p>
          <a:endParaRPr lang="en-US"/>
        </a:p>
      </dgm:t>
    </dgm:pt>
    <dgm:pt modelId="{45EEC538-75EF-3543-AF1D-21FB3753E257}">
      <dgm:prSet/>
      <dgm:spPr/>
      <dgm:t>
        <a:bodyPr/>
        <a:lstStyle/>
        <a:p>
          <a:pPr>
            <a:buNone/>
          </a:pPr>
          <a:r>
            <a:rPr lang="en-US" b="0" i="0" u="none" dirty="0"/>
            <a:t>High fuel consumption</a:t>
          </a:r>
          <a:endParaRPr lang="en-US" dirty="0"/>
        </a:p>
      </dgm:t>
    </dgm:pt>
    <dgm:pt modelId="{74341659-41AE-824F-8940-A8148277EB52}" type="parTrans" cxnId="{CA4CAEDE-8896-5541-9458-2A235E54D3B8}">
      <dgm:prSet/>
      <dgm:spPr/>
      <dgm:t>
        <a:bodyPr/>
        <a:lstStyle/>
        <a:p>
          <a:endParaRPr lang="en-US"/>
        </a:p>
      </dgm:t>
    </dgm:pt>
    <dgm:pt modelId="{8A22CC92-BC82-9642-8ED3-0F62857DE8EE}" type="sibTrans" cxnId="{CA4CAEDE-8896-5541-9458-2A235E54D3B8}">
      <dgm:prSet/>
      <dgm:spPr/>
      <dgm:t>
        <a:bodyPr/>
        <a:lstStyle/>
        <a:p>
          <a:endParaRPr lang="en-US"/>
        </a:p>
      </dgm:t>
    </dgm:pt>
    <dgm:pt modelId="{CA355C5C-4ED4-8E4A-823C-7F6528E628C0}">
      <dgm:prSet/>
      <dgm:spPr/>
      <dgm:t>
        <a:bodyPr/>
        <a:lstStyle/>
        <a:p>
          <a:pPr>
            <a:buNone/>
          </a:pPr>
          <a:r>
            <a:rPr lang="en-US" b="0" i="0" u="none" dirty="0"/>
            <a:t>High electricity generation</a:t>
          </a:r>
          <a:endParaRPr lang="en-US" dirty="0"/>
        </a:p>
      </dgm:t>
    </dgm:pt>
    <dgm:pt modelId="{10956D8F-AF07-E144-8D92-65EE24BF6C99}" type="parTrans" cxnId="{BF3D8611-FEC8-594A-8865-BBA2A57DE3CF}">
      <dgm:prSet/>
      <dgm:spPr/>
      <dgm:t>
        <a:bodyPr/>
        <a:lstStyle/>
        <a:p>
          <a:endParaRPr lang="en-US"/>
        </a:p>
      </dgm:t>
    </dgm:pt>
    <dgm:pt modelId="{33BBAF4E-0496-9C4B-98F9-88835A0598E2}" type="sibTrans" cxnId="{BF3D8611-FEC8-594A-8865-BBA2A57DE3CF}">
      <dgm:prSet/>
      <dgm:spPr/>
      <dgm:t>
        <a:bodyPr/>
        <a:lstStyle/>
        <a:p>
          <a:endParaRPr lang="en-US"/>
        </a:p>
      </dgm:t>
    </dgm:pt>
    <dgm:pt modelId="{49368204-BEE0-784B-AAAA-CD0020EBD6AB}">
      <dgm:prSet/>
      <dgm:spPr/>
      <dgm:t>
        <a:bodyPr/>
        <a:lstStyle/>
        <a:p>
          <a:pPr>
            <a:buNone/>
          </a:pPr>
          <a:r>
            <a:rPr lang="en-US" b="0" i="0" u="none" dirty="0"/>
            <a:t>Concentrated in Illinois, Alabama, Washington, and Kansas</a:t>
          </a:r>
          <a:endParaRPr lang="en-US" dirty="0"/>
        </a:p>
      </dgm:t>
    </dgm:pt>
    <dgm:pt modelId="{FC5FF6B4-1EFB-FA46-9006-2CB410776BED}" type="parTrans" cxnId="{A2A5899A-D350-2A41-AE90-92D893664B2F}">
      <dgm:prSet/>
      <dgm:spPr/>
      <dgm:t>
        <a:bodyPr/>
        <a:lstStyle/>
        <a:p>
          <a:endParaRPr lang="en-US"/>
        </a:p>
      </dgm:t>
    </dgm:pt>
    <dgm:pt modelId="{71B1B8C5-91B8-E242-BC08-FFEAE8A44A70}" type="sibTrans" cxnId="{A2A5899A-D350-2A41-AE90-92D893664B2F}">
      <dgm:prSet/>
      <dgm:spPr/>
      <dgm:t>
        <a:bodyPr/>
        <a:lstStyle/>
        <a:p>
          <a:endParaRPr lang="en-US"/>
        </a:p>
      </dgm:t>
    </dgm:pt>
    <dgm:pt modelId="{4ABE7E13-39AE-AA48-96C2-21A43F7821B1}">
      <dgm:prSet/>
      <dgm:spPr/>
      <dgm:t>
        <a:bodyPr/>
        <a:lstStyle/>
        <a:p>
          <a:pPr>
            <a:buNone/>
          </a:pPr>
          <a:r>
            <a:rPr lang="en-US" b="0" i="0" u="none" dirty="0"/>
            <a:t>Extremely high consumption</a:t>
          </a:r>
          <a:endParaRPr lang="en-US" dirty="0"/>
        </a:p>
      </dgm:t>
    </dgm:pt>
    <dgm:pt modelId="{C2443EC6-50CF-3449-B2F8-17FE606824EF}" type="parTrans" cxnId="{A3D1F942-2488-2F40-A77D-5CD2AECA7CEA}">
      <dgm:prSet/>
      <dgm:spPr/>
      <dgm:t>
        <a:bodyPr/>
        <a:lstStyle/>
        <a:p>
          <a:endParaRPr lang="en-US"/>
        </a:p>
      </dgm:t>
    </dgm:pt>
    <dgm:pt modelId="{982BA3DC-96FF-0140-A6A4-ED0A10AF6827}" type="sibTrans" cxnId="{A3D1F942-2488-2F40-A77D-5CD2AECA7CEA}">
      <dgm:prSet/>
      <dgm:spPr/>
      <dgm:t>
        <a:bodyPr/>
        <a:lstStyle/>
        <a:p>
          <a:endParaRPr lang="en-US"/>
        </a:p>
      </dgm:t>
    </dgm:pt>
    <dgm:pt modelId="{7012656F-E42F-FC48-92A4-54C621417E51}">
      <dgm:prSet/>
      <dgm:spPr/>
      <dgm:t>
        <a:bodyPr/>
        <a:lstStyle/>
        <a:p>
          <a:pPr>
            <a:buNone/>
          </a:pPr>
          <a:r>
            <a:rPr lang="en-US" b="0" i="0" u="none" dirty="0"/>
            <a:t>Moderate to high output</a:t>
          </a:r>
          <a:endParaRPr lang="en-US" dirty="0"/>
        </a:p>
      </dgm:t>
    </dgm:pt>
    <dgm:pt modelId="{44ED6032-6E7F-C54D-90BF-FE938F83E818}" type="parTrans" cxnId="{78340A14-9C8A-7643-BCBA-E4E68F2501AD}">
      <dgm:prSet/>
      <dgm:spPr/>
      <dgm:t>
        <a:bodyPr/>
        <a:lstStyle/>
        <a:p>
          <a:endParaRPr lang="en-US"/>
        </a:p>
      </dgm:t>
    </dgm:pt>
    <dgm:pt modelId="{96A09860-CEAF-C04A-B0BC-1C7B2187DA60}" type="sibTrans" cxnId="{78340A14-9C8A-7643-BCBA-E4E68F2501AD}">
      <dgm:prSet/>
      <dgm:spPr/>
      <dgm:t>
        <a:bodyPr/>
        <a:lstStyle/>
        <a:p>
          <a:endParaRPr lang="en-US"/>
        </a:p>
      </dgm:t>
    </dgm:pt>
    <dgm:pt modelId="{2523D0AA-794A-DB4F-A174-7EEE4AFA78A7}">
      <dgm:prSet/>
      <dgm:spPr/>
      <dgm:t>
        <a:bodyPr/>
        <a:lstStyle/>
        <a:p>
          <a:pPr>
            <a:buNone/>
          </a:pPr>
          <a:r>
            <a:rPr lang="en-US" b="0" i="0" u="none" dirty="0"/>
            <a:t>Concentrated in Texas and Florida</a:t>
          </a:r>
          <a:endParaRPr lang="en-US" dirty="0"/>
        </a:p>
      </dgm:t>
    </dgm:pt>
    <dgm:pt modelId="{3575B528-B4A2-7948-A76D-A1B34F4E3AF9}" type="parTrans" cxnId="{9B5EEF8B-127B-F848-8C27-27EADFF6C6F7}">
      <dgm:prSet/>
      <dgm:spPr/>
      <dgm:t>
        <a:bodyPr/>
        <a:lstStyle/>
        <a:p>
          <a:endParaRPr lang="en-US"/>
        </a:p>
      </dgm:t>
    </dgm:pt>
    <dgm:pt modelId="{32DEC4B2-D0F6-4242-BD83-393229997A56}" type="sibTrans" cxnId="{9B5EEF8B-127B-F848-8C27-27EADFF6C6F7}">
      <dgm:prSet/>
      <dgm:spPr/>
      <dgm:t>
        <a:bodyPr/>
        <a:lstStyle/>
        <a:p>
          <a:endParaRPr lang="en-US"/>
        </a:p>
      </dgm:t>
    </dgm:pt>
    <dgm:pt modelId="{A9E0D50F-700C-7548-8A2A-F713865721AC}">
      <dgm:prSet/>
      <dgm:spPr/>
      <dgm:t>
        <a:bodyPr/>
        <a:lstStyle/>
        <a:p>
          <a:pPr>
            <a:buNone/>
          </a:pPr>
          <a:r>
            <a:rPr lang="en-US" b="0" i="0" u="none" dirty="0"/>
            <a:t>Near zero fuel consumption</a:t>
          </a:r>
          <a:endParaRPr lang="en-US" dirty="0"/>
        </a:p>
      </dgm:t>
    </dgm:pt>
    <dgm:pt modelId="{2F9069C3-7738-DE45-9268-90BF2C3D8B8A}" type="parTrans" cxnId="{BF31BA0A-3BCD-D04E-855E-76A4454BC2FD}">
      <dgm:prSet/>
      <dgm:spPr/>
      <dgm:t>
        <a:bodyPr/>
        <a:lstStyle/>
        <a:p>
          <a:endParaRPr lang="en-US"/>
        </a:p>
      </dgm:t>
    </dgm:pt>
    <dgm:pt modelId="{F5C5CB97-AA90-5445-94EB-6A171E1AB95C}" type="sibTrans" cxnId="{BF31BA0A-3BCD-D04E-855E-76A4454BC2FD}">
      <dgm:prSet/>
      <dgm:spPr/>
      <dgm:t>
        <a:bodyPr/>
        <a:lstStyle/>
        <a:p>
          <a:endParaRPr lang="en-US"/>
        </a:p>
      </dgm:t>
    </dgm:pt>
    <dgm:pt modelId="{B1290538-C95F-5648-AA38-70AABA7A2970}">
      <dgm:prSet/>
      <dgm:spPr/>
      <dgm:t>
        <a:bodyPr/>
        <a:lstStyle/>
        <a:p>
          <a:pPr>
            <a:buNone/>
          </a:pPr>
          <a:r>
            <a:rPr lang="en-US" b="0" i="0" u="none" dirty="0"/>
            <a:t>Low generation</a:t>
          </a:r>
          <a:endParaRPr lang="en-US" dirty="0"/>
        </a:p>
      </dgm:t>
    </dgm:pt>
    <dgm:pt modelId="{B92512F1-B87A-104D-AAA9-7E3A9C259BEB}" type="parTrans" cxnId="{069E75E3-6E15-8E45-AF6C-4EEE9609EB62}">
      <dgm:prSet/>
      <dgm:spPr/>
      <dgm:t>
        <a:bodyPr/>
        <a:lstStyle/>
        <a:p>
          <a:endParaRPr lang="en-US"/>
        </a:p>
      </dgm:t>
    </dgm:pt>
    <dgm:pt modelId="{A9BCCA0B-F82F-0448-B232-7EB18B810601}" type="sibTrans" cxnId="{069E75E3-6E15-8E45-AF6C-4EEE9609EB62}">
      <dgm:prSet/>
      <dgm:spPr/>
      <dgm:t>
        <a:bodyPr/>
        <a:lstStyle/>
        <a:p>
          <a:endParaRPr lang="en-US"/>
        </a:p>
      </dgm:t>
    </dgm:pt>
    <dgm:pt modelId="{A9E28647-754F-6F4D-B96E-CBDDF23D6E51}">
      <dgm:prSet/>
      <dgm:spPr/>
      <dgm:t>
        <a:bodyPr/>
        <a:lstStyle/>
        <a:p>
          <a:pPr>
            <a:buNone/>
          </a:pPr>
          <a:r>
            <a:rPr lang="en-US" b="0" i="0" u="none" dirty="0"/>
            <a:t>Concentrated in California</a:t>
          </a:r>
          <a:endParaRPr lang="en-US" dirty="0"/>
        </a:p>
      </dgm:t>
    </dgm:pt>
    <dgm:pt modelId="{C040DE45-36AE-8A49-B4FB-E14925E8997C}" type="parTrans" cxnId="{2931A701-6EAF-A94C-92C2-A2EA702091CD}">
      <dgm:prSet/>
      <dgm:spPr/>
      <dgm:t>
        <a:bodyPr/>
        <a:lstStyle/>
        <a:p>
          <a:endParaRPr lang="en-US"/>
        </a:p>
      </dgm:t>
    </dgm:pt>
    <dgm:pt modelId="{A3C5D7D8-93C6-C74E-B86E-741AA59BB261}" type="sibTrans" cxnId="{2931A701-6EAF-A94C-92C2-A2EA702091CD}">
      <dgm:prSet/>
      <dgm:spPr/>
      <dgm:t>
        <a:bodyPr/>
        <a:lstStyle/>
        <a:p>
          <a:endParaRPr lang="en-US"/>
        </a:p>
      </dgm:t>
    </dgm:pt>
    <dgm:pt modelId="{75DD9DB6-33F4-434E-817F-97F92AC94A7F}" type="pres">
      <dgm:prSet presAssocID="{2EAD9B28-1C3A-D648-A51F-B0B88C26B570}" presName="linear" presStyleCnt="0">
        <dgm:presLayoutVars>
          <dgm:dir/>
          <dgm:animLvl val="lvl"/>
          <dgm:resizeHandles val="exact"/>
        </dgm:presLayoutVars>
      </dgm:prSet>
      <dgm:spPr/>
    </dgm:pt>
    <dgm:pt modelId="{1DB3F963-5136-B548-B37B-F1ACCF92DA48}" type="pres">
      <dgm:prSet presAssocID="{55AB22B7-38F4-544C-9C89-2E6AB40A4DB6}" presName="parentLin" presStyleCnt="0"/>
      <dgm:spPr/>
    </dgm:pt>
    <dgm:pt modelId="{F33D0AAC-34E4-6F48-87B0-73B9452B53BD}" type="pres">
      <dgm:prSet presAssocID="{55AB22B7-38F4-544C-9C89-2E6AB40A4DB6}" presName="parentLeftMargin" presStyleLbl="node1" presStyleIdx="0" presStyleCnt="4"/>
      <dgm:spPr/>
    </dgm:pt>
    <dgm:pt modelId="{B641D14A-014B-A34D-A775-AEB036B44113}" type="pres">
      <dgm:prSet presAssocID="{55AB22B7-38F4-544C-9C89-2E6AB40A4DB6}" presName="parentText" presStyleLbl="node1" presStyleIdx="0" presStyleCnt="4" custScaleX="136750" custScaleY="106281" custLinFactNeighborX="-41137" custLinFactNeighborY="9937">
        <dgm:presLayoutVars>
          <dgm:chMax val="0"/>
          <dgm:bulletEnabled val="1"/>
        </dgm:presLayoutVars>
      </dgm:prSet>
      <dgm:spPr/>
    </dgm:pt>
    <dgm:pt modelId="{BF4024A8-0B6A-1645-87B0-12D09CDD052B}" type="pres">
      <dgm:prSet presAssocID="{55AB22B7-38F4-544C-9C89-2E6AB40A4DB6}" presName="negativeSpace" presStyleCnt="0"/>
      <dgm:spPr/>
    </dgm:pt>
    <dgm:pt modelId="{C207D28E-9E33-604F-9281-05D4D3C9622C}" type="pres">
      <dgm:prSet presAssocID="{55AB22B7-38F4-544C-9C89-2E6AB40A4DB6}" presName="childText" presStyleLbl="conFgAcc1" presStyleIdx="0" presStyleCnt="4">
        <dgm:presLayoutVars>
          <dgm:bulletEnabled val="1"/>
        </dgm:presLayoutVars>
      </dgm:prSet>
      <dgm:spPr/>
    </dgm:pt>
    <dgm:pt modelId="{E7A7E542-3A3A-304E-9F96-169142D1549F}" type="pres">
      <dgm:prSet presAssocID="{3D5C308E-E97F-4049-9AF2-1F48F02B93EC}" presName="spaceBetweenRectangles" presStyleCnt="0"/>
      <dgm:spPr/>
    </dgm:pt>
    <dgm:pt modelId="{E4FFF714-F9EB-7B40-B783-73B25DBEE00B}" type="pres">
      <dgm:prSet presAssocID="{A1852229-E134-9644-97B4-AC036B40DF9E}" presName="parentLin" presStyleCnt="0"/>
      <dgm:spPr/>
    </dgm:pt>
    <dgm:pt modelId="{6807C0D8-D072-844D-9DB4-12F9536EF90C}" type="pres">
      <dgm:prSet presAssocID="{A1852229-E134-9644-97B4-AC036B40DF9E}" presName="parentLeftMargin" presStyleLbl="node1" presStyleIdx="0" presStyleCnt="4"/>
      <dgm:spPr/>
    </dgm:pt>
    <dgm:pt modelId="{03436F86-4676-9C43-BC38-48167C2A15D4}" type="pres">
      <dgm:prSet presAssocID="{A1852229-E134-9644-97B4-AC036B40DF9E}" presName="parentText" presStyleLbl="node1" presStyleIdx="1" presStyleCnt="4">
        <dgm:presLayoutVars>
          <dgm:chMax val="0"/>
          <dgm:bulletEnabled val="1"/>
        </dgm:presLayoutVars>
      </dgm:prSet>
      <dgm:spPr/>
    </dgm:pt>
    <dgm:pt modelId="{05FFBAF1-3CC6-4743-9832-167E2D83EF05}" type="pres">
      <dgm:prSet presAssocID="{A1852229-E134-9644-97B4-AC036B40DF9E}" presName="negativeSpace" presStyleCnt="0"/>
      <dgm:spPr/>
    </dgm:pt>
    <dgm:pt modelId="{9646EA35-0DF9-3440-A082-87450A48CDF5}" type="pres">
      <dgm:prSet presAssocID="{A1852229-E134-9644-97B4-AC036B40DF9E}" presName="childText" presStyleLbl="conFgAcc1" presStyleIdx="1" presStyleCnt="4">
        <dgm:presLayoutVars>
          <dgm:bulletEnabled val="1"/>
        </dgm:presLayoutVars>
      </dgm:prSet>
      <dgm:spPr/>
    </dgm:pt>
    <dgm:pt modelId="{F337C6A9-77BC-2543-A4F1-F88977F54DB0}" type="pres">
      <dgm:prSet presAssocID="{FD45393E-D700-9049-BAFC-01DFC28C3706}" presName="spaceBetweenRectangles" presStyleCnt="0"/>
      <dgm:spPr/>
    </dgm:pt>
    <dgm:pt modelId="{FD576A22-C3A6-B248-9B1C-696CBEE246D3}" type="pres">
      <dgm:prSet presAssocID="{4D4E5906-53FA-5D44-A212-212B901639EC}" presName="parentLin" presStyleCnt="0"/>
      <dgm:spPr/>
    </dgm:pt>
    <dgm:pt modelId="{C9DE0D8E-7955-874C-9DBC-A8139D25A534}" type="pres">
      <dgm:prSet presAssocID="{4D4E5906-53FA-5D44-A212-212B901639EC}" presName="parentLeftMargin" presStyleLbl="node1" presStyleIdx="1" presStyleCnt="4"/>
      <dgm:spPr/>
    </dgm:pt>
    <dgm:pt modelId="{1A77DFC3-919E-1F4A-9590-BF79E4595A29}" type="pres">
      <dgm:prSet presAssocID="{4D4E5906-53FA-5D44-A212-212B901639EC}" presName="parentText" presStyleLbl="node1" presStyleIdx="2" presStyleCnt="4">
        <dgm:presLayoutVars>
          <dgm:chMax val="0"/>
          <dgm:bulletEnabled val="1"/>
        </dgm:presLayoutVars>
      </dgm:prSet>
      <dgm:spPr/>
    </dgm:pt>
    <dgm:pt modelId="{03552359-A854-AD4D-88BA-DBB575E2C132}" type="pres">
      <dgm:prSet presAssocID="{4D4E5906-53FA-5D44-A212-212B901639EC}" presName="negativeSpace" presStyleCnt="0"/>
      <dgm:spPr/>
    </dgm:pt>
    <dgm:pt modelId="{935CED74-B928-A14E-AF3B-9E0E33391C76}" type="pres">
      <dgm:prSet presAssocID="{4D4E5906-53FA-5D44-A212-212B901639EC}" presName="childText" presStyleLbl="conFgAcc1" presStyleIdx="2" presStyleCnt="4">
        <dgm:presLayoutVars>
          <dgm:bulletEnabled val="1"/>
        </dgm:presLayoutVars>
      </dgm:prSet>
      <dgm:spPr/>
    </dgm:pt>
    <dgm:pt modelId="{C76124B0-C38D-C349-8D7E-94EB7815FC03}" type="pres">
      <dgm:prSet presAssocID="{2B71A761-AA57-724F-A777-56EFBA20F936}" presName="spaceBetweenRectangles" presStyleCnt="0"/>
      <dgm:spPr/>
    </dgm:pt>
    <dgm:pt modelId="{9FF608BB-1609-EC4D-B819-77C560020992}" type="pres">
      <dgm:prSet presAssocID="{748C6207-F8E3-AF4C-9C5F-528C23E35229}" presName="parentLin" presStyleCnt="0"/>
      <dgm:spPr/>
    </dgm:pt>
    <dgm:pt modelId="{0D2A966A-F916-E94B-832C-DF1349618B98}" type="pres">
      <dgm:prSet presAssocID="{748C6207-F8E3-AF4C-9C5F-528C23E35229}" presName="parentLeftMargin" presStyleLbl="node1" presStyleIdx="2" presStyleCnt="4"/>
      <dgm:spPr/>
    </dgm:pt>
    <dgm:pt modelId="{85F84135-3F6C-A949-AC13-DE006EDBCEC1}" type="pres">
      <dgm:prSet presAssocID="{748C6207-F8E3-AF4C-9C5F-528C23E35229}" presName="parentText" presStyleLbl="node1" presStyleIdx="3" presStyleCnt="4">
        <dgm:presLayoutVars>
          <dgm:chMax val="0"/>
          <dgm:bulletEnabled val="1"/>
        </dgm:presLayoutVars>
      </dgm:prSet>
      <dgm:spPr/>
    </dgm:pt>
    <dgm:pt modelId="{D7CB0F1A-15B1-294E-AB62-8CC31BA6C348}" type="pres">
      <dgm:prSet presAssocID="{748C6207-F8E3-AF4C-9C5F-528C23E35229}" presName="negativeSpace" presStyleCnt="0"/>
      <dgm:spPr/>
    </dgm:pt>
    <dgm:pt modelId="{9533E88C-FC09-734F-890D-698105804032}" type="pres">
      <dgm:prSet presAssocID="{748C6207-F8E3-AF4C-9C5F-528C23E35229}" presName="childText" presStyleLbl="conFgAcc1" presStyleIdx="3" presStyleCnt="4">
        <dgm:presLayoutVars>
          <dgm:bulletEnabled val="1"/>
        </dgm:presLayoutVars>
      </dgm:prSet>
      <dgm:spPr/>
    </dgm:pt>
  </dgm:ptLst>
  <dgm:cxnLst>
    <dgm:cxn modelId="{2931A701-6EAF-A94C-92C2-A2EA702091CD}" srcId="{748C6207-F8E3-AF4C-9C5F-528C23E35229}" destId="{A9E28647-754F-6F4D-B96E-CBDDF23D6E51}" srcOrd="2" destOrd="0" parTransId="{C040DE45-36AE-8A49-B4FB-E14925E8997C}" sibTransId="{A3C5D7D8-93C6-C74E-B86E-741AA59BB261}"/>
    <dgm:cxn modelId="{D74F9207-EFE2-194D-A5E7-7D9076F148AB}" type="presOf" srcId="{45EEC538-75EF-3543-AF1D-21FB3753E257}" destId="{9646EA35-0DF9-3440-A082-87450A48CDF5}" srcOrd="0" destOrd="0" presId="urn:microsoft.com/office/officeart/2005/8/layout/list1"/>
    <dgm:cxn modelId="{BF31BA0A-3BCD-D04E-855E-76A4454BC2FD}" srcId="{748C6207-F8E3-AF4C-9C5F-528C23E35229}" destId="{A9E0D50F-700C-7548-8A2A-F713865721AC}" srcOrd="0" destOrd="0" parTransId="{2F9069C3-7738-DE45-9268-90BF2C3D8B8A}" sibTransId="{F5C5CB97-AA90-5445-94EB-6A171E1AB95C}"/>
    <dgm:cxn modelId="{AD6F0A0E-C556-8D49-83B9-A62F01258F86}" srcId="{2EAD9B28-1C3A-D648-A51F-B0B88C26B570}" destId="{4D4E5906-53FA-5D44-A212-212B901639EC}" srcOrd="2" destOrd="0" parTransId="{B5FD8D6E-0F37-1948-B1A5-622DC6DEC7A7}" sibTransId="{2B71A761-AA57-724F-A777-56EFBA20F936}"/>
    <dgm:cxn modelId="{BF3D8611-FEC8-594A-8865-BBA2A57DE3CF}" srcId="{A1852229-E134-9644-97B4-AC036B40DF9E}" destId="{CA355C5C-4ED4-8E4A-823C-7F6528E628C0}" srcOrd="1" destOrd="0" parTransId="{10956D8F-AF07-E144-8D92-65EE24BF6C99}" sibTransId="{33BBAF4E-0496-9C4B-98F9-88835A0598E2}"/>
    <dgm:cxn modelId="{78340A14-9C8A-7643-BCBA-E4E68F2501AD}" srcId="{4D4E5906-53FA-5D44-A212-212B901639EC}" destId="{7012656F-E42F-FC48-92A4-54C621417E51}" srcOrd="1" destOrd="0" parTransId="{44ED6032-6E7F-C54D-90BF-FE938F83E818}" sibTransId="{96A09860-CEAF-C04A-B0BC-1C7B2187DA60}"/>
    <dgm:cxn modelId="{90FB5519-4A42-CC40-A65F-BE40EB88E311}" type="presOf" srcId="{4D4E5906-53FA-5D44-A212-212B901639EC}" destId="{C9DE0D8E-7955-874C-9DBC-A8139D25A534}" srcOrd="0" destOrd="0" presId="urn:microsoft.com/office/officeart/2005/8/layout/list1"/>
    <dgm:cxn modelId="{A3D1F942-2488-2F40-A77D-5CD2AECA7CEA}" srcId="{4D4E5906-53FA-5D44-A212-212B901639EC}" destId="{4ABE7E13-39AE-AA48-96C2-21A43F7821B1}" srcOrd="0" destOrd="0" parTransId="{C2443EC6-50CF-3449-B2F8-17FE606824EF}" sibTransId="{982BA3DC-96FF-0140-A6A4-ED0A10AF6827}"/>
    <dgm:cxn modelId="{C33B4145-9F23-9748-B21C-ED94D7F276ED}" type="presOf" srcId="{748C6207-F8E3-AF4C-9C5F-528C23E35229}" destId="{0D2A966A-F916-E94B-832C-DF1349618B98}" srcOrd="0" destOrd="0" presId="urn:microsoft.com/office/officeart/2005/8/layout/list1"/>
    <dgm:cxn modelId="{0EE7CB52-AF0C-C049-8BBB-E14AF874DCF1}" type="presOf" srcId="{A1852229-E134-9644-97B4-AC036B40DF9E}" destId="{03436F86-4676-9C43-BC38-48167C2A15D4}" srcOrd="1" destOrd="0" presId="urn:microsoft.com/office/officeart/2005/8/layout/list1"/>
    <dgm:cxn modelId="{F82E1754-F7C5-434D-BCF3-6C5DD378B46B}" type="presOf" srcId="{2EAD9B28-1C3A-D648-A51F-B0B88C26B570}" destId="{75DD9DB6-33F4-434E-817F-97F92AC94A7F}" srcOrd="0" destOrd="0" presId="urn:microsoft.com/office/officeart/2005/8/layout/list1"/>
    <dgm:cxn modelId="{3FC76C54-4E1D-DE45-858A-4E3176C35DF0}" type="presOf" srcId="{CA355C5C-4ED4-8E4A-823C-7F6528E628C0}" destId="{9646EA35-0DF9-3440-A082-87450A48CDF5}" srcOrd="0" destOrd="1" presId="urn:microsoft.com/office/officeart/2005/8/layout/list1"/>
    <dgm:cxn modelId="{73CE3A64-72DD-D64C-AC27-61FFCAE84189}" srcId="{2EAD9B28-1C3A-D648-A51F-B0B88C26B570}" destId="{55AB22B7-38F4-544C-9C89-2E6AB40A4DB6}" srcOrd="0" destOrd="0" parTransId="{8CDAB544-8E36-D647-BA55-B76DAA234171}" sibTransId="{3D5C308E-E97F-4049-9AF2-1F48F02B93EC}"/>
    <dgm:cxn modelId="{9B5EEF8B-127B-F848-8C27-27EADFF6C6F7}" srcId="{4D4E5906-53FA-5D44-A212-212B901639EC}" destId="{2523D0AA-794A-DB4F-A174-7EEE4AFA78A7}" srcOrd="2" destOrd="0" parTransId="{3575B528-B4A2-7948-A76D-A1B34F4E3AF9}" sibTransId="{32DEC4B2-D0F6-4242-BD83-393229997A56}"/>
    <dgm:cxn modelId="{A2A5899A-D350-2A41-AE90-92D893664B2F}" srcId="{A1852229-E134-9644-97B4-AC036B40DF9E}" destId="{49368204-BEE0-784B-AAAA-CD0020EBD6AB}" srcOrd="2" destOrd="0" parTransId="{FC5FF6B4-1EFB-FA46-9006-2CB410776BED}" sibTransId="{71B1B8C5-91B8-E242-BC08-FFEAE8A44A70}"/>
    <dgm:cxn modelId="{6C65ADAB-19D2-A741-82C6-48CA31E45B2E}" type="presOf" srcId="{A9E0D50F-700C-7548-8A2A-F713865721AC}" destId="{9533E88C-FC09-734F-890D-698105804032}" srcOrd="0" destOrd="0" presId="urn:microsoft.com/office/officeart/2005/8/layout/list1"/>
    <dgm:cxn modelId="{5FB14FAC-0CEC-4048-97B8-815B5799E450}" type="presOf" srcId="{2523D0AA-794A-DB4F-A174-7EEE4AFA78A7}" destId="{935CED74-B928-A14E-AF3B-9E0E33391C76}" srcOrd="0" destOrd="2" presId="urn:microsoft.com/office/officeart/2005/8/layout/list1"/>
    <dgm:cxn modelId="{870A39AE-78D3-5F4F-B779-44E23215AE12}" type="presOf" srcId="{A9E28647-754F-6F4D-B96E-CBDDF23D6E51}" destId="{9533E88C-FC09-734F-890D-698105804032}" srcOrd="0" destOrd="2" presId="urn:microsoft.com/office/officeart/2005/8/layout/list1"/>
    <dgm:cxn modelId="{9A4DF8B0-3EE3-994F-AE49-63FC16C730CF}" type="presOf" srcId="{55AB22B7-38F4-544C-9C89-2E6AB40A4DB6}" destId="{F33D0AAC-34E4-6F48-87B0-73B9452B53BD}" srcOrd="0" destOrd="0" presId="urn:microsoft.com/office/officeart/2005/8/layout/list1"/>
    <dgm:cxn modelId="{759ACCBF-B3B6-C14F-9D06-822B5EFE9577}" type="presOf" srcId="{49368204-BEE0-784B-AAAA-CD0020EBD6AB}" destId="{9646EA35-0DF9-3440-A082-87450A48CDF5}" srcOrd="0" destOrd="2" presId="urn:microsoft.com/office/officeart/2005/8/layout/list1"/>
    <dgm:cxn modelId="{55FC46CC-5DE6-3B41-A91A-60544A4C762A}" type="presOf" srcId="{55AB22B7-38F4-544C-9C89-2E6AB40A4DB6}" destId="{B641D14A-014B-A34D-A775-AEB036B44113}" srcOrd="1" destOrd="0" presId="urn:microsoft.com/office/officeart/2005/8/layout/list1"/>
    <dgm:cxn modelId="{88035BCE-36CC-A041-AFE3-B7401B57EEB1}" srcId="{2EAD9B28-1C3A-D648-A51F-B0B88C26B570}" destId="{748C6207-F8E3-AF4C-9C5F-528C23E35229}" srcOrd="3" destOrd="0" parTransId="{FB7F356C-428E-9C44-BD93-857750B975CE}" sibTransId="{21EC7610-0A77-F84D-A423-900FBD3A7443}"/>
    <dgm:cxn modelId="{2E40C5DB-4FEC-D841-A447-B2D9D9B96C8E}" srcId="{2EAD9B28-1C3A-D648-A51F-B0B88C26B570}" destId="{A1852229-E134-9644-97B4-AC036B40DF9E}" srcOrd="1" destOrd="0" parTransId="{45A5B89A-DA06-6F4A-B495-BFD0577A059C}" sibTransId="{FD45393E-D700-9049-BAFC-01DFC28C3706}"/>
    <dgm:cxn modelId="{B4AF51DD-5719-EA4F-8042-E19F99E57DC7}" type="presOf" srcId="{A1852229-E134-9644-97B4-AC036B40DF9E}" destId="{6807C0D8-D072-844D-9DB4-12F9536EF90C}" srcOrd="0" destOrd="0" presId="urn:microsoft.com/office/officeart/2005/8/layout/list1"/>
    <dgm:cxn modelId="{489F69DE-F4AB-AE42-8D79-9280E5CA20B1}" type="presOf" srcId="{4ABE7E13-39AE-AA48-96C2-21A43F7821B1}" destId="{935CED74-B928-A14E-AF3B-9E0E33391C76}" srcOrd="0" destOrd="0" presId="urn:microsoft.com/office/officeart/2005/8/layout/list1"/>
    <dgm:cxn modelId="{CA4CAEDE-8896-5541-9458-2A235E54D3B8}" srcId="{A1852229-E134-9644-97B4-AC036B40DF9E}" destId="{45EEC538-75EF-3543-AF1D-21FB3753E257}" srcOrd="0" destOrd="0" parTransId="{74341659-41AE-824F-8940-A8148277EB52}" sibTransId="{8A22CC92-BC82-9642-8ED3-0F62857DE8EE}"/>
    <dgm:cxn modelId="{069E75E3-6E15-8E45-AF6C-4EEE9609EB62}" srcId="{748C6207-F8E3-AF4C-9C5F-528C23E35229}" destId="{B1290538-C95F-5648-AA38-70AABA7A2970}" srcOrd="1" destOrd="0" parTransId="{B92512F1-B87A-104D-AAA9-7E3A9C259BEB}" sibTransId="{A9BCCA0B-F82F-0448-B232-7EB18B810601}"/>
    <dgm:cxn modelId="{2EEFA6ED-FDED-C04F-BE35-1240B610ED7D}" type="presOf" srcId="{B1290538-C95F-5648-AA38-70AABA7A2970}" destId="{9533E88C-FC09-734F-890D-698105804032}" srcOrd="0" destOrd="1" presId="urn:microsoft.com/office/officeart/2005/8/layout/list1"/>
    <dgm:cxn modelId="{4E5131F9-C15E-4747-BD06-9C6E4C5BC337}" type="presOf" srcId="{4D4E5906-53FA-5D44-A212-212B901639EC}" destId="{1A77DFC3-919E-1F4A-9590-BF79E4595A29}" srcOrd="1" destOrd="0" presId="urn:microsoft.com/office/officeart/2005/8/layout/list1"/>
    <dgm:cxn modelId="{9BB816FF-85FF-124A-870B-A16E48CB150E}" type="presOf" srcId="{748C6207-F8E3-AF4C-9C5F-528C23E35229}" destId="{85F84135-3F6C-A949-AC13-DE006EDBCEC1}" srcOrd="1" destOrd="0" presId="urn:microsoft.com/office/officeart/2005/8/layout/list1"/>
    <dgm:cxn modelId="{AEFABBFF-1EA7-C24F-9647-2E48778CF2BC}" type="presOf" srcId="{7012656F-E42F-FC48-92A4-54C621417E51}" destId="{935CED74-B928-A14E-AF3B-9E0E33391C76}" srcOrd="0" destOrd="1" presId="urn:microsoft.com/office/officeart/2005/8/layout/list1"/>
    <dgm:cxn modelId="{5BAEBBFC-812A-174B-BED2-0A511848E934}" type="presParOf" srcId="{75DD9DB6-33F4-434E-817F-97F92AC94A7F}" destId="{1DB3F963-5136-B548-B37B-F1ACCF92DA48}" srcOrd="0" destOrd="0" presId="urn:microsoft.com/office/officeart/2005/8/layout/list1"/>
    <dgm:cxn modelId="{24593D57-2A9A-1547-BB5C-386ED3278F23}" type="presParOf" srcId="{1DB3F963-5136-B548-B37B-F1ACCF92DA48}" destId="{F33D0AAC-34E4-6F48-87B0-73B9452B53BD}" srcOrd="0" destOrd="0" presId="urn:microsoft.com/office/officeart/2005/8/layout/list1"/>
    <dgm:cxn modelId="{EBFFCBDB-6502-8343-B5AC-845263EF801F}" type="presParOf" srcId="{1DB3F963-5136-B548-B37B-F1ACCF92DA48}" destId="{B641D14A-014B-A34D-A775-AEB036B44113}" srcOrd="1" destOrd="0" presId="urn:microsoft.com/office/officeart/2005/8/layout/list1"/>
    <dgm:cxn modelId="{BAFA355B-6234-A14F-97B0-E47BB1B4B8C8}" type="presParOf" srcId="{75DD9DB6-33F4-434E-817F-97F92AC94A7F}" destId="{BF4024A8-0B6A-1645-87B0-12D09CDD052B}" srcOrd="1" destOrd="0" presId="urn:microsoft.com/office/officeart/2005/8/layout/list1"/>
    <dgm:cxn modelId="{94E8046C-97ED-554F-83A9-97070E356700}" type="presParOf" srcId="{75DD9DB6-33F4-434E-817F-97F92AC94A7F}" destId="{C207D28E-9E33-604F-9281-05D4D3C9622C}" srcOrd="2" destOrd="0" presId="urn:microsoft.com/office/officeart/2005/8/layout/list1"/>
    <dgm:cxn modelId="{A5BD5AB9-9160-7646-9574-C3D137F075F6}" type="presParOf" srcId="{75DD9DB6-33F4-434E-817F-97F92AC94A7F}" destId="{E7A7E542-3A3A-304E-9F96-169142D1549F}" srcOrd="3" destOrd="0" presId="urn:microsoft.com/office/officeart/2005/8/layout/list1"/>
    <dgm:cxn modelId="{A0D7F375-1CD2-1540-A5BA-30B8270B8DD3}" type="presParOf" srcId="{75DD9DB6-33F4-434E-817F-97F92AC94A7F}" destId="{E4FFF714-F9EB-7B40-B783-73B25DBEE00B}" srcOrd="4" destOrd="0" presId="urn:microsoft.com/office/officeart/2005/8/layout/list1"/>
    <dgm:cxn modelId="{4281D2EA-561E-A94F-A666-2222CD59BF41}" type="presParOf" srcId="{E4FFF714-F9EB-7B40-B783-73B25DBEE00B}" destId="{6807C0D8-D072-844D-9DB4-12F9536EF90C}" srcOrd="0" destOrd="0" presId="urn:microsoft.com/office/officeart/2005/8/layout/list1"/>
    <dgm:cxn modelId="{B5B8299C-BEC6-7C41-804D-9207F2566085}" type="presParOf" srcId="{E4FFF714-F9EB-7B40-B783-73B25DBEE00B}" destId="{03436F86-4676-9C43-BC38-48167C2A15D4}" srcOrd="1" destOrd="0" presId="urn:microsoft.com/office/officeart/2005/8/layout/list1"/>
    <dgm:cxn modelId="{8246C55A-06A9-0C43-8387-07CF5BF938FE}" type="presParOf" srcId="{75DD9DB6-33F4-434E-817F-97F92AC94A7F}" destId="{05FFBAF1-3CC6-4743-9832-167E2D83EF05}" srcOrd="5" destOrd="0" presId="urn:microsoft.com/office/officeart/2005/8/layout/list1"/>
    <dgm:cxn modelId="{52F63E59-DB76-DC48-B6C6-6685835C08AE}" type="presParOf" srcId="{75DD9DB6-33F4-434E-817F-97F92AC94A7F}" destId="{9646EA35-0DF9-3440-A082-87450A48CDF5}" srcOrd="6" destOrd="0" presId="urn:microsoft.com/office/officeart/2005/8/layout/list1"/>
    <dgm:cxn modelId="{785F8143-A9BF-AD43-8C3E-19DF5F16E5B7}" type="presParOf" srcId="{75DD9DB6-33F4-434E-817F-97F92AC94A7F}" destId="{F337C6A9-77BC-2543-A4F1-F88977F54DB0}" srcOrd="7" destOrd="0" presId="urn:microsoft.com/office/officeart/2005/8/layout/list1"/>
    <dgm:cxn modelId="{131269BF-E68F-704B-A5C1-F0711B92BBE4}" type="presParOf" srcId="{75DD9DB6-33F4-434E-817F-97F92AC94A7F}" destId="{FD576A22-C3A6-B248-9B1C-696CBEE246D3}" srcOrd="8" destOrd="0" presId="urn:microsoft.com/office/officeart/2005/8/layout/list1"/>
    <dgm:cxn modelId="{59D67F83-71C5-7F40-B0AF-8A662D99B52B}" type="presParOf" srcId="{FD576A22-C3A6-B248-9B1C-696CBEE246D3}" destId="{C9DE0D8E-7955-874C-9DBC-A8139D25A534}" srcOrd="0" destOrd="0" presId="urn:microsoft.com/office/officeart/2005/8/layout/list1"/>
    <dgm:cxn modelId="{C133BB1C-B762-F540-9C14-FE3633F15DA7}" type="presParOf" srcId="{FD576A22-C3A6-B248-9B1C-696CBEE246D3}" destId="{1A77DFC3-919E-1F4A-9590-BF79E4595A29}" srcOrd="1" destOrd="0" presId="urn:microsoft.com/office/officeart/2005/8/layout/list1"/>
    <dgm:cxn modelId="{8905F1B6-C02A-7748-92B7-E9D203C2E27B}" type="presParOf" srcId="{75DD9DB6-33F4-434E-817F-97F92AC94A7F}" destId="{03552359-A854-AD4D-88BA-DBB575E2C132}" srcOrd="9" destOrd="0" presId="urn:microsoft.com/office/officeart/2005/8/layout/list1"/>
    <dgm:cxn modelId="{10EF2B34-6FC0-724F-AA53-E120A745339C}" type="presParOf" srcId="{75DD9DB6-33F4-434E-817F-97F92AC94A7F}" destId="{935CED74-B928-A14E-AF3B-9E0E33391C76}" srcOrd="10" destOrd="0" presId="urn:microsoft.com/office/officeart/2005/8/layout/list1"/>
    <dgm:cxn modelId="{05CD8F65-8AC9-3E4F-B53D-B38830BD4548}" type="presParOf" srcId="{75DD9DB6-33F4-434E-817F-97F92AC94A7F}" destId="{C76124B0-C38D-C349-8D7E-94EB7815FC03}" srcOrd="11" destOrd="0" presId="urn:microsoft.com/office/officeart/2005/8/layout/list1"/>
    <dgm:cxn modelId="{98E2C64F-D97B-FF4D-92DF-5E0A5A7DA026}" type="presParOf" srcId="{75DD9DB6-33F4-434E-817F-97F92AC94A7F}" destId="{9FF608BB-1609-EC4D-B819-77C560020992}" srcOrd="12" destOrd="0" presId="urn:microsoft.com/office/officeart/2005/8/layout/list1"/>
    <dgm:cxn modelId="{43DF49D9-1A06-C740-BA19-17E64D70D7D4}" type="presParOf" srcId="{9FF608BB-1609-EC4D-B819-77C560020992}" destId="{0D2A966A-F916-E94B-832C-DF1349618B98}" srcOrd="0" destOrd="0" presId="urn:microsoft.com/office/officeart/2005/8/layout/list1"/>
    <dgm:cxn modelId="{644D07E5-9B8D-F449-90A6-B4C080FF651B}" type="presParOf" srcId="{9FF608BB-1609-EC4D-B819-77C560020992}" destId="{85F84135-3F6C-A949-AC13-DE006EDBCEC1}" srcOrd="1" destOrd="0" presId="urn:microsoft.com/office/officeart/2005/8/layout/list1"/>
    <dgm:cxn modelId="{445358E4-E111-7C40-B304-61218B0D7D90}" type="presParOf" srcId="{75DD9DB6-33F4-434E-817F-97F92AC94A7F}" destId="{D7CB0F1A-15B1-294E-AB62-8CC31BA6C348}" srcOrd="13" destOrd="0" presId="urn:microsoft.com/office/officeart/2005/8/layout/list1"/>
    <dgm:cxn modelId="{EFB3E67E-03CF-9B4E-A5C3-58B0230B1290}" type="presParOf" srcId="{75DD9DB6-33F4-434E-817F-97F92AC94A7F}" destId="{9533E88C-FC09-734F-890D-698105804032}" srcOrd="14"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5DD30A4-8F74-4B67-940A-E013F59F7689}" type="doc">
      <dgm:prSet loTypeId="urn:microsoft.com/office/officeart/2005/8/layout/vList2" loCatId="list" qsTypeId="urn:microsoft.com/office/officeart/2005/8/quickstyle/simple2" qsCatId="simple" csTypeId="urn:microsoft.com/office/officeart/2005/8/colors/colorful1" csCatId="colorful" phldr="1"/>
      <dgm:spPr/>
      <dgm:t>
        <a:bodyPr/>
        <a:lstStyle/>
        <a:p>
          <a:endParaRPr lang="en-US"/>
        </a:p>
      </dgm:t>
    </dgm:pt>
    <dgm:pt modelId="{AB7446B7-6438-774A-B0EA-729AF557968B}">
      <dgm:prSet custT="1"/>
      <dgm:spPr/>
      <dgm:t>
        <a:bodyPr/>
        <a:lstStyle/>
        <a:p>
          <a:pPr marL="0" lvl="0" indent="0" algn="l" defTabSz="1022350">
            <a:lnSpc>
              <a:spcPct val="90000"/>
            </a:lnSpc>
            <a:spcBef>
              <a:spcPct val="0"/>
            </a:spcBef>
            <a:spcAft>
              <a:spcPct val="35000"/>
            </a:spcAft>
            <a:buClrTx/>
            <a:buSzTx/>
            <a:buFontTx/>
            <a:buNone/>
          </a:pPr>
          <a:r>
            <a:rPr kumimoji="0" lang="en-US" sz="2300" b="1" i="0" u="none" strike="noStrike" kern="1200" cap="none" normalizeH="0" baseline="0" dirty="0">
              <a:ln>
                <a:noFill/>
              </a:ln>
              <a:solidFill>
                <a:prstClr val="white"/>
              </a:solidFill>
              <a:effectLst/>
              <a:latin typeface="Arial" panose="020B0604020202020204" pitchFamily="34" charset="0"/>
              <a:ea typeface="+mn-ea"/>
              <a:cs typeface="+mn-cs"/>
            </a:rPr>
            <a:t>Summary of Findings</a:t>
          </a:r>
        </a:p>
      </dgm:t>
    </dgm:pt>
    <dgm:pt modelId="{16BC3BF4-5618-094F-BC21-DD4874F1599E}" type="parTrans" cxnId="{9B14B93A-FE2A-1F44-8D71-7C70EE2947E2}">
      <dgm:prSet/>
      <dgm:spPr/>
      <dgm:t>
        <a:bodyPr/>
        <a:lstStyle/>
        <a:p>
          <a:endParaRPr lang="en-US">
            <a:solidFill>
              <a:schemeClr val="tx1"/>
            </a:solidFill>
          </a:endParaRPr>
        </a:p>
      </dgm:t>
    </dgm:pt>
    <dgm:pt modelId="{CBCDCCA7-AD6C-5A44-B5ED-05AAEFA9E0C4}" type="sibTrans" cxnId="{9B14B93A-FE2A-1F44-8D71-7C70EE2947E2}">
      <dgm:prSet/>
      <dgm:spPr/>
      <dgm:t>
        <a:bodyPr/>
        <a:lstStyle/>
        <a:p>
          <a:endParaRPr lang="en-US">
            <a:solidFill>
              <a:schemeClr val="tx1"/>
            </a:solidFill>
          </a:endParaRPr>
        </a:p>
      </dgm:t>
    </dgm:pt>
    <dgm:pt modelId="{4B34FFB8-EE06-7A41-A8CC-68EB9EE548E9}">
      <dgm:prSet/>
      <dgm:spPr/>
      <dgm:t>
        <a:bodyPr/>
        <a:lstStyle/>
        <a:p>
          <a:r>
            <a:rPr kumimoji="0" lang="en-US" altLang="en-US" b="0" i="0" u="none" strike="noStrike" cap="none" normalizeH="0" baseline="0" dirty="0">
              <a:ln>
                <a:noFill/>
              </a:ln>
              <a:solidFill>
                <a:schemeClr val="tx1"/>
              </a:solidFill>
              <a:effectLst/>
              <a:latin typeface="Arial" panose="020B0604020202020204" pitchFamily="34" charset="0"/>
            </a:rPr>
            <a:t>Three meaningful clusters identified</a:t>
          </a:r>
          <a:endParaRPr lang="en-US" dirty="0">
            <a:solidFill>
              <a:schemeClr val="tx1"/>
            </a:solidFill>
          </a:endParaRPr>
        </a:p>
      </dgm:t>
    </dgm:pt>
    <dgm:pt modelId="{F2831ECA-C4B4-3047-A0EF-1EC8683FBF55}" type="parTrans" cxnId="{6E4C668F-7BC9-394C-AC7C-4F2908B5E659}">
      <dgm:prSet/>
      <dgm:spPr/>
      <dgm:t>
        <a:bodyPr/>
        <a:lstStyle/>
        <a:p>
          <a:endParaRPr lang="en-US">
            <a:solidFill>
              <a:schemeClr val="tx1"/>
            </a:solidFill>
          </a:endParaRPr>
        </a:p>
      </dgm:t>
    </dgm:pt>
    <dgm:pt modelId="{B5BA20F8-4CB6-7F48-86AD-1893D6109009}" type="sibTrans" cxnId="{6E4C668F-7BC9-394C-AC7C-4F2908B5E659}">
      <dgm:prSet/>
      <dgm:spPr/>
      <dgm:t>
        <a:bodyPr/>
        <a:lstStyle/>
        <a:p>
          <a:endParaRPr lang="en-US">
            <a:solidFill>
              <a:schemeClr val="tx1"/>
            </a:solidFill>
          </a:endParaRPr>
        </a:p>
      </dgm:t>
    </dgm:pt>
    <dgm:pt modelId="{DD4733DB-79EB-1748-9AD2-7A419E0AC4C2}">
      <dgm:prSet/>
      <dgm:spPr/>
      <dgm:t>
        <a:bodyPr/>
        <a:lstStyle/>
        <a:p>
          <a:r>
            <a:rPr kumimoji="0" lang="en-US" altLang="en-US" b="0" i="0" u="none" strike="noStrike" cap="none" normalizeH="0" baseline="0" dirty="0">
              <a:ln>
                <a:noFill/>
              </a:ln>
              <a:solidFill>
                <a:schemeClr val="tx1"/>
              </a:solidFill>
              <a:effectLst/>
              <a:latin typeface="Arial" panose="020B0604020202020204" pitchFamily="34" charset="0"/>
            </a:rPr>
            <a:t>Distinct technological and operational patterns</a:t>
          </a:r>
          <a:endParaRPr lang="en-US" dirty="0">
            <a:solidFill>
              <a:schemeClr val="tx1"/>
            </a:solidFill>
          </a:endParaRPr>
        </a:p>
      </dgm:t>
    </dgm:pt>
    <dgm:pt modelId="{F3A6DDE2-D39D-7D42-B4CF-4C12FC0B1ADD}" type="parTrans" cxnId="{3C13E79A-7390-4941-935F-CB165E387CB3}">
      <dgm:prSet/>
      <dgm:spPr/>
      <dgm:t>
        <a:bodyPr/>
        <a:lstStyle/>
        <a:p>
          <a:endParaRPr lang="en-US">
            <a:solidFill>
              <a:schemeClr val="tx1"/>
            </a:solidFill>
          </a:endParaRPr>
        </a:p>
      </dgm:t>
    </dgm:pt>
    <dgm:pt modelId="{846F589D-3F72-4146-8592-CE40C83780E1}" type="sibTrans" cxnId="{3C13E79A-7390-4941-935F-CB165E387CB3}">
      <dgm:prSet/>
      <dgm:spPr/>
      <dgm:t>
        <a:bodyPr/>
        <a:lstStyle/>
        <a:p>
          <a:endParaRPr lang="en-US">
            <a:solidFill>
              <a:schemeClr val="tx1"/>
            </a:solidFill>
          </a:endParaRPr>
        </a:p>
      </dgm:t>
    </dgm:pt>
    <dgm:pt modelId="{BDE34BFD-E3DA-E248-BF0D-7CDB2FC58C96}">
      <dgm:prSet/>
      <dgm:spPr/>
      <dgm:t>
        <a:bodyPr/>
        <a:lstStyle/>
        <a:p>
          <a:r>
            <a:rPr kumimoji="0" lang="en-US" altLang="en-US" b="0" i="0" u="none" strike="noStrike" cap="none" normalizeH="0" baseline="0" dirty="0">
              <a:ln>
                <a:noFill/>
              </a:ln>
              <a:solidFill>
                <a:schemeClr val="tx1"/>
              </a:solidFill>
              <a:effectLst/>
              <a:latin typeface="Arial" panose="020B0604020202020204" pitchFamily="34" charset="0"/>
            </a:rPr>
            <a:t>Demonstrates usefulness of PUDL for analysis</a:t>
          </a:r>
          <a:endParaRPr lang="en-US" dirty="0">
            <a:solidFill>
              <a:schemeClr val="tx1"/>
            </a:solidFill>
          </a:endParaRPr>
        </a:p>
      </dgm:t>
    </dgm:pt>
    <dgm:pt modelId="{9EEF84B9-4451-304D-B31B-7409BF97DE7F}" type="parTrans" cxnId="{B93EC86E-2ED5-A44C-8686-62B28B6D3EAB}">
      <dgm:prSet/>
      <dgm:spPr/>
      <dgm:t>
        <a:bodyPr/>
        <a:lstStyle/>
        <a:p>
          <a:endParaRPr lang="en-US">
            <a:solidFill>
              <a:schemeClr val="tx1"/>
            </a:solidFill>
          </a:endParaRPr>
        </a:p>
      </dgm:t>
    </dgm:pt>
    <dgm:pt modelId="{9AC5D70A-BD85-0049-885B-90923B1C4CDF}" type="sibTrans" cxnId="{B93EC86E-2ED5-A44C-8686-62B28B6D3EAB}">
      <dgm:prSet/>
      <dgm:spPr/>
      <dgm:t>
        <a:bodyPr/>
        <a:lstStyle/>
        <a:p>
          <a:endParaRPr lang="en-US">
            <a:solidFill>
              <a:schemeClr val="tx1"/>
            </a:solidFill>
          </a:endParaRPr>
        </a:p>
      </dgm:t>
    </dgm:pt>
    <dgm:pt modelId="{8DF611AA-7D06-F145-A48B-1429C16A938F}">
      <dgm:prSet/>
      <dgm:spPr/>
      <dgm:t>
        <a:bodyPr/>
        <a:lstStyle/>
        <a:p>
          <a:pPr>
            <a:buClrTx/>
            <a:buSzTx/>
            <a:buFontTx/>
            <a:buNone/>
          </a:pPr>
          <a:r>
            <a:rPr kumimoji="0" lang="en-US" altLang="en-US" b="1" i="0" u="none" strike="noStrike" cap="none" normalizeH="0" baseline="0" dirty="0">
              <a:ln>
                <a:noFill/>
              </a:ln>
              <a:solidFill>
                <a:schemeClr val="tx1"/>
              </a:solidFill>
              <a:effectLst/>
              <a:latin typeface="Arial" panose="020B0604020202020204" pitchFamily="34" charset="0"/>
            </a:rPr>
            <a:t>Key Assumptions:</a:t>
          </a:r>
          <a:endParaRPr lang="en-US" dirty="0">
            <a:solidFill>
              <a:schemeClr val="tx1"/>
            </a:solidFill>
          </a:endParaRPr>
        </a:p>
      </dgm:t>
    </dgm:pt>
    <dgm:pt modelId="{8900C425-5BF6-1745-9FAD-2B29E8CC964D}" type="parTrans" cxnId="{1DE51C02-688A-A345-AC3E-6643C07F1F6E}">
      <dgm:prSet/>
      <dgm:spPr/>
      <dgm:t>
        <a:bodyPr/>
        <a:lstStyle/>
        <a:p>
          <a:endParaRPr lang="en-US">
            <a:solidFill>
              <a:schemeClr val="tx1"/>
            </a:solidFill>
          </a:endParaRPr>
        </a:p>
      </dgm:t>
    </dgm:pt>
    <dgm:pt modelId="{34D37D60-7165-E64D-8876-BC48CF248576}" type="sibTrans" cxnId="{1DE51C02-688A-A345-AC3E-6643C07F1F6E}">
      <dgm:prSet/>
      <dgm:spPr/>
      <dgm:t>
        <a:bodyPr/>
        <a:lstStyle/>
        <a:p>
          <a:endParaRPr lang="en-US">
            <a:solidFill>
              <a:schemeClr val="tx1"/>
            </a:solidFill>
          </a:endParaRPr>
        </a:p>
      </dgm:t>
    </dgm:pt>
    <dgm:pt modelId="{79936036-2EDD-D24D-A66E-7D290B83330F}">
      <dgm:prSet/>
      <dgm:spPr/>
      <dgm:t>
        <a:bodyPr/>
        <a:lstStyle/>
        <a:p>
          <a:r>
            <a:rPr kumimoji="0" lang="en-US" altLang="en-US" b="1" i="0" u="none" strike="noStrike" cap="none" normalizeH="0" baseline="0" dirty="0">
              <a:ln>
                <a:noFill/>
              </a:ln>
              <a:solidFill>
                <a:schemeClr val="tx1"/>
              </a:solidFill>
              <a:effectLst/>
              <a:latin typeface="Arial" panose="020B0604020202020204" pitchFamily="34" charset="0"/>
            </a:rPr>
            <a:t>Overall Contribution:</a:t>
          </a:r>
          <a:endParaRPr kumimoji="0" lang="en-US" altLang="en-US" b="0" i="0" u="none" strike="noStrike" cap="none" normalizeH="0" baseline="0" dirty="0">
            <a:ln>
              <a:noFill/>
            </a:ln>
            <a:solidFill>
              <a:schemeClr val="tx1"/>
            </a:solidFill>
            <a:effectLst/>
            <a:latin typeface="Arial" panose="020B0604020202020204" pitchFamily="34" charset="0"/>
          </a:endParaRPr>
        </a:p>
      </dgm:t>
    </dgm:pt>
    <dgm:pt modelId="{85A9670F-5A92-E949-83C4-094E40A6091B}" type="parTrans" cxnId="{B84E6FFE-42D5-F249-9162-F6D679E3BF27}">
      <dgm:prSet/>
      <dgm:spPr/>
      <dgm:t>
        <a:bodyPr/>
        <a:lstStyle/>
        <a:p>
          <a:endParaRPr lang="en-US">
            <a:solidFill>
              <a:schemeClr val="tx1"/>
            </a:solidFill>
          </a:endParaRPr>
        </a:p>
      </dgm:t>
    </dgm:pt>
    <dgm:pt modelId="{6708D5AC-77D7-D646-A1CD-C9CCAEC7851A}" type="sibTrans" cxnId="{B84E6FFE-42D5-F249-9162-F6D679E3BF27}">
      <dgm:prSet/>
      <dgm:spPr/>
      <dgm:t>
        <a:bodyPr/>
        <a:lstStyle/>
        <a:p>
          <a:endParaRPr lang="en-US">
            <a:solidFill>
              <a:schemeClr val="tx1"/>
            </a:solidFill>
          </a:endParaRPr>
        </a:p>
      </dgm:t>
    </dgm:pt>
    <dgm:pt modelId="{804CC0D4-F7A5-9F4F-AF16-80CB452F7EBA}">
      <dgm:prSet/>
      <dgm:spPr/>
      <dgm:t>
        <a:bodyPr/>
        <a:lstStyle/>
        <a:p>
          <a:pPr>
            <a:buClrTx/>
            <a:buSzTx/>
            <a:buFontTx/>
            <a:buNone/>
          </a:pPr>
          <a:r>
            <a:rPr kumimoji="0" lang="en-US" altLang="en-US" b="0" i="0" u="none" strike="noStrike" cap="none" normalizeH="0" baseline="0" dirty="0">
              <a:ln>
                <a:noFill/>
              </a:ln>
              <a:solidFill>
                <a:schemeClr val="tx1"/>
              </a:solidFill>
              <a:effectLst/>
              <a:latin typeface="Arial" panose="020B0604020202020204" pitchFamily="34" charset="0"/>
            </a:rPr>
            <a:t>Standardization required</a:t>
          </a:r>
          <a:endParaRPr lang="en-US" dirty="0">
            <a:solidFill>
              <a:schemeClr val="tx1"/>
            </a:solidFill>
          </a:endParaRPr>
        </a:p>
      </dgm:t>
    </dgm:pt>
    <dgm:pt modelId="{93F795E1-B1DB-C542-8CAA-A71BAD36810A}" type="parTrans" cxnId="{856F8823-C6D1-E64D-930F-8F15CB2B2BB2}">
      <dgm:prSet/>
      <dgm:spPr/>
      <dgm:t>
        <a:bodyPr/>
        <a:lstStyle/>
        <a:p>
          <a:endParaRPr lang="en-US">
            <a:solidFill>
              <a:schemeClr val="tx1"/>
            </a:solidFill>
          </a:endParaRPr>
        </a:p>
      </dgm:t>
    </dgm:pt>
    <dgm:pt modelId="{C3AF0ACF-EC00-F04C-A3C4-58DAD87A079F}" type="sibTrans" cxnId="{856F8823-C6D1-E64D-930F-8F15CB2B2BB2}">
      <dgm:prSet/>
      <dgm:spPr/>
      <dgm:t>
        <a:bodyPr/>
        <a:lstStyle/>
        <a:p>
          <a:endParaRPr lang="en-US">
            <a:solidFill>
              <a:schemeClr val="tx1"/>
            </a:solidFill>
          </a:endParaRPr>
        </a:p>
      </dgm:t>
    </dgm:pt>
    <dgm:pt modelId="{92AEE858-F984-3643-98FC-E59ACDBC6D4D}">
      <dgm:prSet/>
      <dgm:spPr/>
      <dgm:t>
        <a:bodyPr/>
        <a:lstStyle/>
        <a:p>
          <a:pPr>
            <a:buClrTx/>
            <a:buSzTx/>
            <a:buFontTx/>
            <a:buNone/>
          </a:pPr>
          <a:r>
            <a:rPr kumimoji="0" lang="en-US" altLang="en-US" b="0" i="0" u="none" strike="noStrike" cap="none" normalizeH="0" baseline="0" dirty="0">
              <a:ln>
                <a:noFill/>
              </a:ln>
              <a:solidFill>
                <a:schemeClr val="tx1"/>
              </a:solidFill>
              <a:effectLst/>
              <a:latin typeface="Arial" panose="020B0604020202020204" pitchFamily="34" charset="0"/>
            </a:rPr>
            <a:t>Fuel types used only for interpretation</a:t>
          </a:r>
          <a:endParaRPr lang="en-US" dirty="0">
            <a:solidFill>
              <a:schemeClr val="tx1"/>
            </a:solidFill>
          </a:endParaRPr>
        </a:p>
      </dgm:t>
    </dgm:pt>
    <dgm:pt modelId="{35F4B1D2-5A75-0D4D-A7E7-93AF71B04754}" type="parTrans" cxnId="{9DF0670B-49A2-1749-B008-D308D99A2AFD}">
      <dgm:prSet/>
      <dgm:spPr/>
      <dgm:t>
        <a:bodyPr/>
        <a:lstStyle/>
        <a:p>
          <a:endParaRPr lang="en-US">
            <a:solidFill>
              <a:schemeClr val="tx1"/>
            </a:solidFill>
          </a:endParaRPr>
        </a:p>
      </dgm:t>
    </dgm:pt>
    <dgm:pt modelId="{79E1D9F6-1C5D-C84B-B4B4-CC3874DDC0AB}" type="sibTrans" cxnId="{9DF0670B-49A2-1749-B008-D308D99A2AFD}">
      <dgm:prSet/>
      <dgm:spPr/>
      <dgm:t>
        <a:bodyPr/>
        <a:lstStyle/>
        <a:p>
          <a:endParaRPr lang="en-US">
            <a:solidFill>
              <a:schemeClr val="tx1"/>
            </a:solidFill>
          </a:endParaRPr>
        </a:p>
      </dgm:t>
    </dgm:pt>
    <dgm:pt modelId="{8C5BD072-EC8A-094C-B40A-E7B8B5FBE7F4}">
      <dgm:prSet/>
      <dgm:spPr/>
      <dgm:t>
        <a:bodyPr/>
        <a:lstStyle/>
        <a:p>
          <a:pPr>
            <a:buClrTx/>
            <a:buSzTx/>
            <a:buFontTx/>
            <a:buNone/>
          </a:pPr>
          <a:r>
            <a:rPr kumimoji="0" lang="en-US" altLang="en-US" b="0" i="0" u="none" strike="noStrike" cap="none" normalizeH="0" baseline="0" dirty="0">
              <a:ln>
                <a:noFill/>
              </a:ln>
              <a:solidFill>
                <a:schemeClr val="tx1"/>
              </a:solidFill>
              <a:effectLst/>
              <a:latin typeface="Arial" panose="020B0604020202020204" pitchFamily="34" charset="0"/>
            </a:rPr>
            <a:t>Incomplete records removed</a:t>
          </a:r>
          <a:endParaRPr lang="en-US" dirty="0">
            <a:solidFill>
              <a:schemeClr val="tx1"/>
            </a:solidFill>
          </a:endParaRPr>
        </a:p>
      </dgm:t>
    </dgm:pt>
    <dgm:pt modelId="{4B3B1B64-9022-824B-9B81-0F1874D9A665}" type="parTrans" cxnId="{6AD66F08-8B1D-B144-AE65-1CBC36E3E205}">
      <dgm:prSet/>
      <dgm:spPr/>
      <dgm:t>
        <a:bodyPr/>
        <a:lstStyle/>
        <a:p>
          <a:endParaRPr lang="en-US">
            <a:solidFill>
              <a:schemeClr val="tx1"/>
            </a:solidFill>
          </a:endParaRPr>
        </a:p>
      </dgm:t>
    </dgm:pt>
    <dgm:pt modelId="{17EA1CEA-FEE7-DA46-8B78-093C72629A33}" type="sibTrans" cxnId="{6AD66F08-8B1D-B144-AE65-1CBC36E3E205}">
      <dgm:prSet/>
      <dgm:spPr/>
      <dgm:t>
        <a:bodyPr/>
        <a:lstStyle/>
        <a:p>
          <a:endParaRPr lang="en-US">
            <a:solidFill>
              <a:schemeClr val="tx1"/>
            </a:solidFill>
          </a:endParaRPr>
        </a:p>
      </dgm:t>
    </dgm:pt>
    <dgm:pt modelId="{779F2A82-CE77-004F-8258-075EBB58ACAB}">
      <dgm:prSet/>
      <dgm:spPr/>
      <dgm:t>
        <a:bodyPr/>
        <a:lstStyle/>
        <a:p>
          <a:r>
            <a:rPr kumimoji="0" lang="en-US" altLang="en-US" b="0" i="0" u="none" strike="noStrike" cap="none" normalizeH="0" baseline="0" dirty="0">
              <a:ln>
                <a:noFill/>
              </a:ln>
              <a:solidFill>
                <a:schemeClr val="tx1"/>
              </a:solidFill>
              <a:effectLst/>
              <a:latin typeface="Arial" panose="020B0604020202020204" pitchFamily="34" charset="0"/>
            </a:rPr>
            <a:t>Provides a clear view of how different power plant technologies shape the U.S. energy landscape.</a:t>
          </a:r>
        </a:p>
      </dgm:t>
    </dgm:pt>
    <dgm:pt modelId="{FC902441-ABD7-CA49-9D33-C44721B32D83}" type="parTrans" cxnId="{AE4CB35A-5780-154E-BC10-C303A69849DE}">
      <dgm:prSet/>
      <dgm:spPr/>
      <dgm:t>
        <a:bodyPr/>
        <a:lstStyle/>
        <a:p>
          <a:endParaRPr lang="en-US">
            <a:solidFill>
              <a:schemeClr val="tx1"/>
            </a:solidFill>
          </a:endParaRPr>
        </a:p>
      </dgm:t>
    </dgm:pt>
    <dgm:pt modelId="{B8597C48-2568-4947-B7D6-53CBBF205F0C}" type="sibTrans" cxnId="{AE4CB35A-5780-154E-BC10-C303A69849DE}">
      <dgm:prSet/>
      <dgm:spPr/>
      <dgm:t>
        <a:bodyPr/>
        <a:lstStyle/>
        <a:p>
          <a:endParaRPr lang="en-US">
            <a:solidFill>
              <a:schemeClr val="tx1"/>
            </a:solidFill>
          </a:endParaRPr>
        </a:p>
      </dgm:t>
    </dgm:pt>
    <dgm:pt modelId="{AAA3D419-C63B-A444-B82D-47DA2C6F55E1}" type="pres">
      <dgm:prSet presAssocID="{45DD30A4-8F74-4B67-940A-E013F59F7689}" presName="linear" presStyleCnt="0">
        <dgm:presLayoutVars>
          <dgm:animLvl val="lvl"/>
          <dgm:resizeHandles val="exact"/>
        </dgm:presLayoutVars>
      </dgm:prSet>
      <dgm:spPr/>
    </dgm:pt>
    <dgm:pt modelId="{428FD914-D152-E843-9FFC-08B156A7C2AB}" type="pres">
      <dgm:prSet presAssocID="{AB7446B7-6438-774A-B0EA-729AF557968B}" presName="parentText" presStyleLbl="node1" presStyleIdx="0" presStyleCnt="3" custLinFactNeighborY="-1800">
        <dgm:presLayoutVars>
          <dgm:chMax val="0"/>
          <dgm:bulletEnabled val="1"/>
        </dgm:presLayoutVars>
      </dgm:prSet>
      <dgm:spPr/>
    </dgm:pt>
    <dgm:pt modelId="{3369C864-0F1C-3F43-A6AB-C4E095DE28DF}" type="pres">
      <dgm:prSet presAssocID="{AB7446B7-6438-774A-B0EA-729AF557968B}" presName="childText" presStyleLbl="revTx" presStyleIdx="0" presStyleCnt="3">
        <dgm:presLayoutVars>
          <dgm:bulletEnabled val="1"/>
        </dgm:presLayoutVars>
      </dgm:prSet>
      <dgm:spPr/>
    </dgm:pt>
    <dgm:pt modelId="{6C32EA6B-1445-7C46-B139-3295DAC1BDA2}" type="pres">
      <dgm:prSet presAssocID="{8DF611AA-7D06-F145-A48B-1429C16A938F}" presName="parentText" presStyleLbl="node1" presStyleIdx="1" presStyleCnt="3">
        <dgm:presLayoutVars>
          <dgm:chMax val="0"/>
          <dgm:bulletEnabled val="1"/>
        </dgm:presLayoutVars>
      </dgm:prSet>
      <dgm:spPr/>
    </dgm:pt>
    <dgm:pt modelId="{FD616E61-9052-9141-8934-3659577F1BE9}" type="pres">
      <dgm:prSet presAssocID="{8DF611AA-7D06-F145-A48B-1429C16A938F}" presName="childText" presStyleLbl="revTx" presStyleIdx="1" presStyleCnt="3">
        <dgm:presLayoutVars>
          <dgm:bulletEnabled val="1"/>
        </dgm:presLayoutVars>
      </dgm:prSet>
      <dgm:spPr/>
    </dgm:pt>
    <dgm:pt modelId="{8CF501AA-B8F9-A04A-B30B-999A894E52DF}" type="pres">
      <dgm:prSet presAssocID="{79936036-2EDD-D24D-A66E-7D290B83330F}" presName="parentText" presStyleLbl="node1" presStyleIdx="2" presStyleCnt="3">
        <dgm:presLayoutVars>
          <dgm:chMax val="0"/>
          <dgm:bulletEnabled val="1"/>
        </dgm:presLayoutVars>
      </dgm:prSet>
      <dgm:spPr/>
    </dgm:pt>
    <dgm:pt modelId="{FF73EAF2-F514-AF4C-87A0-1D41D5937F4B}" type="pres">
      <dgm:prSet presAssocID="{79936036-2EDD-D24D-A66E-7D290B83330F}" presName="childText" presStyleLbl="revTx" presStyleIdx="2" presStyleCnt="3">
        <dgm:presLayoutVars>
          <dgm:bulletEnabled val="1"/>
        </dgm:presLayoutVars>
      </dgm:prSet>
      <dgm:spPr/>
    </dgm:pt>
  </dgm:ptLst>
  <dgm:cxnLst>
    <dgm:cxn modelId="{1DE51C02-688A-A345-AC3E-6643C07F1F6E}" srcId="{45DD30A4-8F74-4B67-940A-E013F59F7689}" destId="{8DF611AA-7D06-F145-A48B-1429C16A938F}" srcOrd="1" destOrd="0" parTransId="{8900C425-5BF6-1745-9FAD-2B29E8CC964D}" sibTransId="{34D37D60-7165-E64D-8876-BC48CF248576}"/>
    <dgm:cxn modelId="{6AD66F08-8B1D-B144-AE65-1CBC36E3E205}" srcId="{8DF611AA-7D06-F145-A48B-1429C16A938F}" destId="{8C5BD072-EC8A-094C-B40A-E7B8B5FBE7F4}" srcOrd="2" destOrd="0" parTransId="{4B3B1B64-9022-824B-9B81-0F1874D9A665}" sibTransId="{17EA1CEA-FEE7-DA46-8B78-093C72629A33}"/>
    <dgm:cxn modelId="{9DF0670B-49A2-1749-B008-D308D99A2AFD}" srcId="{8DF611AA-7D06-F145-A48B-1429C16A938F}" destId="{92AEE858-F984-3643-98FC-E59ACDBC6D4D}" srcOrd="1" destOrd="0" parTransId="{35F4B1D2-5A75-0D4D-A7E7-93AF71B04754}" sibTransId="{79E1D9F6-1C5D-C84B-B4B4-CC3874DDC0AB}"/>
    <dgm:cxn modelId="{12E09C12-42A4-9246-A264-CD05AB9A5022}" type="presOf" srcId="{4B34FFB8-EE06-7A41-A8CC-68EB9EE548E9}" destId="{3369C864-0F1C-3F43-A6AB-C4E095DE28DF}" srcOrd="0" destOrd="0" presId="urn:microsoft.com/office/officeart/2005/8/layout/vList2"/>
    <dgm:cxn modelId="{6292FE17-7028-A944-9951-DB5833179A65}" type="presOf" srcId="{8DF611AA-7D06-F145-A48B-1429C16A938F}" destId="{6C32EA6B-1445-7C46-B139-3295DAC1BDA2}" srcOrd="0" destOrd="0" presId="urn:microsoft.com/office/officeart/2005/8/layout/vList2"/>
    <dgm:cxn modelId="{856F8823-C6D1-E64D-930F-8F15CB2B2BB2}" srcId="{8DF611AA-7D06-F145-A48B-1429C16A938F}" destId="{804CC0D4-F7A5-9F4F-AF16-80CB452F7EBA}" srcOrd="0" destOrd="0" parTransId="{93F795E1-B1DB-C542-8CAA-A71BAD36810A}" sibTransId="{C3AF0ACF-EC00-F04C-A3C4-58DAD87A079F}"/>
    <dgm:cxn modelId="{86610C2A-6765-1649-BA22-0228C707769A}" type="presOf" srcId="{92AEE858-F984-3643-98FC-E59ACDBC6D4D}" destId="{FD616E61-9052-9141-8934-3659577F1BE9}" srcOrd="0" destOrd="1" presId="urn:microsoft.com/office/officeart/2005/8/layout/vList2"/>
    <dgm:cxn modelId="{9B14B93A-FE2A-1F44-8D71-7C70EE2947E2}" srcId="{45DD30A4-8F74-4B67-940A-E013F59F7689}" destId="{AB7446B7-6438-774A-B0EA-729AF557968B}" srcOrd="0" destOrd="0" parTransId="{16BC3BF4-5618-094F-BC21-DD4874F1599E}" sibTransId="{CBCDCCA7-AD6C-5A44-B5ED-05AAEFA9E0C4}"/>
    <dgm:cxn modelId="{AE4CB35A-5780-154E-BC10-C303A69849DE}" srcId="{79936036-2EDD-D24D-A66E-7D290B83330F}" destId="{779F2A82-CE77-004F-8258-075EBB58ACAB}" srcOrd="0" destOrd="0" parTransId="{FC902441-ABD7-CA49-9D33-C44721B32D83}" sibTransId="{B8597C48-2568-4947-B7D6-53CBBF205F0C}"/>
    <dgm:cxn modelId="{D91E8E5E-C2A9-C848-8A8C-2A8A0853C582}" type="presOf" srcId="{BDE34BFD-E3DA-E248-BF0D-7CDB2FC58C96}" destId="{3369C864-0F1C-3F43-A6AB-C4E095DE28DF}" srcOrd="0" destOrd="2" presId="urn:microsoft.com/office/officeart/2005/8/layout/vList2"/>
    <dgm:cxn modelId="{B93EC86E-2ED5-A44C-8686-62B28B6D3EAB}" srcId="{AB7446B7-6438-774A-B0EA-729AF557968B}" destId="{BDE34BFD-E3DA-E248-BF0D-7CDB2FC58C96}" srcOrd="2" destOrd="0" parTransId="{9EEF84B9-4451-304D-B31B-7409BF97DE7F}" sibTransId="{9AC5D70A-BD85-0049-885B-90923B1C4CDF}"/>
    <dgm:cxn modelId="{ED068B79-70FB-044C-85B0-292EFB06F9BB}" type="presOf" srcId="{8C5BD072-EC8A-094C-B40A-E7B8B5FBE7F4}" destId="{FD616E61-9052-9141-8934-3659577F1BE9}" srcOrd="0" destOrd="2" presId="urn:microsoft.com/office/officeart/2005/8/layout/vList2"/>
    <dgm:cxn modelId="{5131037B-8D90-274D-93DE-13F5E20F9D44}" type="presOf" srcId="{804CC0D4-F7A5-9F4F-AF16-80CB452F7EBA}" destId="{FD616E61-9052-9141-8934-3659577F1BE9}" srcOrd="0" destOrd="0" presId="urn:microsoft.com/office/officeart/2005/8/layout/vList2"/>
    <dgm:cxn modelId="{6E4C668F-7BC9-394C-AC7C-4F2908B5E659}" srcId="{AB7446B7-6438-774A-B0EA-729AF557968B}" destId="{4B34FFB8-EE06-7A41-A8CC-68EB9EE548E9}" srcOrd="0" destOrd="0" parTransId="{F2831ECA-C4B4-3047-A0EF-1EC8683FBF55}" sibTransId="{B5BA20F8-4CB6-7F48-86AD-1893D6109009}"/>
    <dgm:cxn modelId="{2F5E5394-03F7-F94E-B7C4-57E16DDE14F6}" type="presOf" srcId="{DD4733DB-79EB-1748-9AD2-7A419E0AC4C2}" destId="{3369C864-0F1C-3F43-A6AB-C4E095DE28DF}" srcOrd="0" destOrd="1" presId="urn:microsoft.com/office/officeart/2005/8/layout/vList2"/>
    <dgm:cxn modelId="{3C13E79A-7390-4941-935F-CB165E387CB3}" srcId="{AB7446B7-6438-774A-B0EA-729AF557968B}" destId="{DD4733DB-79EB-1748-9AD2-7A419E0AC4C2}" srcOrd="1" destOrd="0" parTransId="{F3A6DDE2-D39D-7D42-B4CF-4C12FC0B1ADD}" sibTransId="{846F589D-3F72-4146-8592-CE40C83780E1}"/>
    <dgm:cxn modelId="{562898AB-DDB5-2446-B5F7-52540F974CAD}" type="presOf" srcId="{AB7446B7-6438-774A-B0EA-729AF557968B}" destId="{428FD914-D152-E843-9FFC-08B156A7C2AB}" srcOrd="0" destOrd="0" presId="urn:microsoft.com/office/officeart/2005/8/layout/vList2"/>
    <dgm:cxn modelId="{71794ED5-E7F0-F54A-BBF6-7B617253177E}" type="presOf" srcId="{779F2A82-CE77-004F-8258-075EBB58ACAB}" destId="{FF73EAF2-F514-AF4C-87A0-1D41D5937F4B}" srcOrd="0" destOrd="0" presId="urn:microsoft.com/office/officeart/2005/8/layout/vList2"/>
    <dgm:cxn modelId="{CAC8B7E0-1CF2-794C-9D24-D6C4ABA4E50F}" type="presOf" srcId="{79936036-2EDD-D24D-A66E-7D290B83330F}" destId="{8CF501AA-B8F9-A04A-B30B-999A894E52DF}" srcOrd="0" destOrd="0" presId="urn:microsoft.com/office/officeart/2005/8/layout/vList2"/>
    <dgm:cxn modelId="{53EF13F1-92E3-8A43-B3E7-BD29DDE92CF6}" type="presOf" srcId="{45DD30A4-8F74-4B67-940A-E013F59F7689}" destId="{AAA3D419-C63B-A444-B82D-47DA2C6F55E1}" srcOrd="0" destOrd="0" presId="urn:microsoft.com/office/officeart/2005/8/layout/vList2"/>
    <dgm:cxn modelId="{B84E6FFE-42D5-F249-9162-F6D679E3BF27}" srcId="{45DD30A4-8F74-4B67-940A-E013F59F7689}" destId="{79936036-2EDD-D24D-A66E-7D290B83330F}" srcOrd="2" destOrd="0" parTransId="{85A9670F-5A92-E949-83C4-094E40A6091B}" sibTransId="{6708D5AC-77D7-D646-A1CD-C9CCAEC7851A}"/>
    <dgm:cxn modelId="{490F1C10-4E6E-6849-8219-82CFDA7D86F1}" type="presParOf" srcId="{AAA3D419-C63B-A444-B82D-47DA2C6F55E1}" destId="{428FD914-D152-E843-9FFC-08B156A7C2AB}" srcOrd="0" destOrd="0" presId="urn:microsoft.com/office/officeart/2005/8/layout/vList2"/>
    <dgm:cxn modelId="{1766241F-E0AD-2A4E-A720-D5D28494AEBA}" type="presParOf" srcId="{AAA3D419-C63B-A444-B82D-47DA2C6F55E1}" destId="{3369C864-0F1C-3F43-A6AB-C4E095DE28DF}" srcOrd="1" destOrd="0" presId="urn:microsoft.com/office/officeart/2005/8/layout/vList2"/>
    <dgm:cxn modelId="{BA0FFD74-75AC-DE40-A006-A69379A1777B}" type="presParOf" srcId="{AAA3D419-C63B-A444-B82D-47DA2C6F55E1}" destId="{6C32EA6B-1445-7C46-B139-3295DAC1BDA2}" srcOrd="2" destOrd="0" presId="urn:microsoft.com/office/officeart/2005/8/layout/vList2"/>
    <dgm:cxn modelId="{599736AF-1211-BD42-AE7D-7C66F65101BE}" type="presParOf" srcId="{AAA3D419-C63B-A444-B82D-47DA2C6F55E1}" destId="{FD616E61-9052-9141-8934-3659577F1BE9}" srcOrd="3" destOrd="0" presId="urn:microsoft.com/office/officeart/2005/8/layout/vList2"/>
    <dgm:cxn modelId="{9F430277-2DAC-7F43-87F7-CB94B1F2050B}" type="presParOf" srcId="{AAA3D419-C63B-A444-B82D-47DA2C6F55E1}" destId="{8CF501AA-B8F9-A04A-B30B-999A894E52DF}" srcOrd="4" destOrd="0" presId="urn:microsoft.com/office/officeart/2005/8/layout/vList2"/>
    <dgm:cxn modelId="{928DAC34-8037-EE41-B7F3-52F687F5B4CF}" type="presParOf" srcId="{AAA3D419-C63B-A444-B82D-47DA2C6F55E1}" destId="{FF73EAF2-F514-AF4C-87A0-1D41D5937F4B}" srcOrd="5"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C4049A-E4B3-A34E-B1AD-E67C8350E010}">
      <dsp:nvSpPr>
        <dsp:cNvPr id="0" name=""/>
        <dsp:cNvSpPr/>
      </dsp:nvSpPr>
      <dsp:spPr>
        <a:xfrm>
          <a:off x="0" y="28358"/>
          <a:ext cx="10515600" cy="810810"/>
        </a:xfrm>
        <a:prstGeom prst="roundRect">
          <a:avLst/>
        </a:prstGeom>
        <a:solidFill>
          <a:schemeClr val="accent2"/>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Key Points:</a:t>
          </a:r>
        </a:p>
      </dsp:txBody>
      <dsp:txXfrm>
        <a:off x="39580" y="67938"/>
        <a:ext cx="10436440" cy="731650"/>
      </dsp:txXfrm>
    </dsp:sp>
    <dsp:sp modelId="{9D6F8D81-1036-454E-99D4-925B0B74A18D}">
      <dsp:nvSpPr>
        <dsp:cNvPr id="0" name=""/>
        <dsp:cNvSpPr/>
      </dsp:nvSpPr>
      <dsp:spPr>
        <a:xfrm>
          <a:off x="0" y="839168"/>
          <a:ext cx="10515600" cy="3483810"/>
        </a:xfrm>
        <a:prstGeom prst="rect">
          <a:avLst/>
        </a:prstGeom>
        <a:solidFill>
          <a:srgbClr val="000000">
            <a:alpha val="29804"/>
          </a:srgbClr>
        </a:solidFill>
        <a:ln>
          <a:noFill/>
        </a:ln>
        <a:effectLst/>
      </dsp:spPr>
      <dsp:style>
        <a:lnRef idx="0">
          <a:scrgbClr r="0" g="0" b="0"/>
        </a:lnRef>
        <a:fillRef idx="0">
          <a:scrgbClr r="0" g="0" b="0"/>
        </a:fillRef>
        <a:effectRef idx="0">
          <a:scrgbClr r="0" g="0" b="0"/>
        </a:effectRef>
        <a:fontRef idx="minor"/>
      </dsp:style>
      <dsp:txBody>
        <a:bodyPr spcFirstLastPara="0" vert="horz" wrap="square" lIns="333870"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US" sz="2600" kern="1200"/>
            <a:t>Analyzed PUDL EIA-923 year-to-date generation and fuel data</a:t>
          </a:r>
        </a:p>
        <a:p>
          <a:pPr marL="228600" lvl="1" indent="-228600" algn="l" defTabSz="1155700">
            <a:lnSpc>
              <a:spcPct val="90000"/>
            </a:lnSpc>
            <a:spcBef>
              <a:spcPct val="0"/>
            </a:spcBef>
            <a:spcAft>
              <a:spcPct val="20000"/>
            </a:spcAft>
            <a:buChar char="•"/>
          </a:pPr>
          <a:r>
            <a:rPr lang="en-US" sz="2600" kern="1200"/>
            <a:t>Applied k-means clustering to identify meaningful groups of power plants</a:t>
          </a:r>
        </a:p>
        <a:p>
          <a:pPr marL="228600" lvl="1" indent="-228600" algn="l" defTabSz="1155700">
            <a:lnSpc>
              <a:spcPct val="90000"/>
            </a:lnSpc>
            <a:spcBef>
              <a:spcPct val="0"/>
            </a:spcBef>
            <a:spcAft>
              <a:spcPct val="20000"/>
            </a:spcAft>
            <a:buChar char="•"/>
          </a:pPr>
          <a:r>
            <a:rPr lang="en-US" sz="2600" kern="1200"/>
            <a:t>Three clear clusters emerged</a:t>
          </a:r>
        </a:p>
        <a:p>
          <a:pPr marL="457200" lvl="2" indent="-228600" algn="l" defTabSz="1155700">
            <a:lnSpc>
              <a:spcPct val="90000"/>
            </a:lnSpc>
            <a:spcBef>
              <a:spcPct val="0"/>
            </a:spcBef>
            <a:spcAft>
              <a:spcPct val="20000"/>
            </a:spcAft>
            <a:buChar char="•"/>
          </a:pPr>
          <a:r>
            <a:rPr lang="en-US" sz="2600" kern="1200" dirty="0"/>
            <a:t>Nuclear and coal plants with high output</a:t>
          </a:r>
        </a:p>
        <a:p>
          <a:pPr marL="457200" lvl="2" indent="-228600" algn="l" defTabSz="1155700">
            <a:lnSpc>
              <a:spcPct val="90000"/>
            </a:lnSpc>
            <a:spcBef>
              <a:spcPct val="0"/>
            </a:spcBef>
            <a:spcAft>
              <a:spcPct val="20000"/>
            </a:spcAft>
            <a:buChar char="•"/>
          </a:pPr>
          <a:r>
            <a:rPr lang="en-US" sz="2600" kern="1200"/>
            <a:t>Natural gas plants with high consumption</a:t>
          </a:r>
        </a:p>
        <a:p>
          <a:pPr marL="457200" lvl="2" indent="-228600" algn="l" defTabSz="1155700">
            <a:lnSpc>
              <a:spcPct val="90000"/>
            </a:lnSpc>
            <a:spcBef>
              <a:spcPct val="0"/>
            </a:spcBef>
            <a:spcAft>
              <a:spcPct val="20000"/>
            </a:spcAft>
            <a:buChar char="•"/>
          </a:pPr>
          <a:r>
            <a:rPr lang="en-US" sz="2600" kern="1200"/>
            <a:t>Solar plants with low consumption and lower output</a:t>
          </a:r>
        </a:p>
        <a:p>
          <a:pPr marL="228600" lvl="1" indent="-228600" algn="l" defTabSz="1155700">
            <a:lnSpc>
              <a:spcPct val="90000"/>
            </a:lnSpc>
            <a:spcBef>
              <a:spcPct val="0"/>
            </a:spcBef>
            <a:spcAft>
              <a:spcPct val="20000"/>
            </a:spcAft>
            <a:buChar char="•"/>
          </a:pPr>
          <a:r>
            <a:rPr lang="en-US" sz="2600" kern="1200"/>
            <a:t>Insights help clarify technology roles in U.S. power generation</a:t>
          </a:r>
        </a:p>
      </dsp:txBody>
      <dsp:txXfrm>
        <a:off x="0" y="839168"/>
        <a:ext cx="10515600" cy="34838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0E2BAE-F3D9-5F4D-B00D-5D0906AFA940}">
      <dsp:nvSpPr>
        <dsp:cNvPr id="0" name=""/>
        <dsp:cNvSpPr/>
      </dsp:nvSpPr>
      <dsp:spPr>
        <a:xfrm>
          <a:off x="0" y="533704"/>
          <a:ext cx="6506153" cy="2466449"/>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04950" tIns="562356" rIns="504950" bIns="192024" numCol="1" spcCol="1270" anchor="t" anchorCtr="0">
          <a:noAutofit/>
        </a:bodyPr>
        <a:lstStyle/>
        <a:p>
          <a:pPr marL="228600" lvl="1" indent="-228600" algn="l" defTabSz="1200150">
            <a:lnSpc>
              <a:spcPct val="90000"/>
            </a:lnSpc>
            <a:spcBef>
              <a:spcPct val="0"/>
            </a:spcBef>
            <a:spcAft>
              <a:spcPct val="15000"/>
            </a:spcAft>
            <a:buChar char="•"/>
          </a:pPr>
          <a:r>
            <a:rPr lang="en-US" sz="2700" kern="1200" dirty="0"/>
            <a:t>EIA-923 (2023 Year-to-Date)</a:t>
          </a:r>
        </a:p>
        <a:p>
          <a:pPr marL="228600" lvl="1" indent="-228600" algn="l" defTabSz="1200150">
            <a:lnSpc>
              <a:spcPct val="90000"/>
            </a:lnSpc>
            <a:spcBef>
              <a:spcPct val="0"/>
            </a:spcBef>
            <a:spcAft>
              <a:spcPct val="15000"/>
            </a:spcAft>
            <a:buChar char="•"/>
          </a:pPr>
          <a:r>
            <a:rPr lang="en-US" sz="2700" kern="1200"/>
            <a:t>Includes generation and fuel usage</a:t>
          </a:r>
        </a:p>
        <a:p>
          <a:pPr marL="228600" lvl="1" indent="-228600" algn="l" defTabSz="1200150">
            <a:lnSpc>
              <a:spcPct val="90000"/>
            </a:lnSpc>
            <a:spcBef>
              <a:spcPct val="0"/>
            </a:spcBef>
            <a:spcAft>
              <a:spcPct val="15000"/>
            </a:spcAft>
            <a:buChar char="•"/>
          </a:pPr>
          <a:r>
            <a:rPr lang="en-US" sz="2700" kern="1200"/>
            <a:t>Over 17,000 plant-level records</a:t>
          </a:r>
        </a:p>
        <a:p>
          <a:pPr marL="228600" lvl="1" indent="-228600" algn="l" defTabSz="1200150">
            <a:lnSpc>
              <a:spcPct val="90000"/>
            </a:lnSpc>
            <a:spcBef>
              <a:spcPct val="0"/>
            </a:spcBef>
            <a:spcAft>
              <a:spcPct val="15000"/>
            </a:spcAft>
            <a:buChar char="•"/>
          </a:pPr>
          <a:r>
            <a:rPr lang="en-US" sz="2700" kern="1200"/>
            <a:t>Covers all U.S. geographic regions</a:t>
          </a:r>
        </a:p>
      </dsp:txBody>
      <dsp:txXfrm>
        <a:off x="0" y="533704"/>
        <a:ext cx="6506153" cy="2466449"/>
      </dsp:txXfrm>
    </dsp:sp>
    <dsp:sp modelId="{0F93C9D0-FF5B-7D4C-AF3F-159228EF919E}">
      <dsp:nvSpPr>
        <dsp:cNvPr id="0" name=""/>
        <dsp:cNvSpPr/>
      </dsp:nvSpPr>
      <dsp:spPr>
        <a:xfrm>
          <a:off x="325307" y="135184"/>
          <a:ext cx="4554307" cy="79703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2142" tIns="0" rIns="172142" bIns="0" numCol="1" spcCol="1270" anchor="ctr" anchorCtr="0">
          <a:noAutofit/>
        </a:bodyPr>
        <a:lstStyle/>
        <a:p>
          <a:pPr marL="0" lvl="0" indent="0" algn="l" defTabSz="1200150">
            <a:lnSpc>
              <a:spcPct val="90000"/>
            </a:lnSpc>
            <a:spcBef>
              <a:spcPct val="0"/>
            </a:spcBef>
            <a:spcAft>
              <a:spcPct val="35000"/>
            </a:spcAft>
            <a:buNone/>
          </a:pPr>
          <a:r>
            <a:rPr lang="en-US" sz="2700" kern="1200" dirty="0"/>
            <a:t>Dataset Used:</a:t>
          </a:r>
        </a:p>
      </dsp:txBody>
      <dsp:txXfrm>
        <a:off x="364215" y="174092"/>
        <a:ext cx="4476491" cy="7192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2086F3-A69F-7248-B11A-0AE776B7A0F0}">
      <dsp:nvSpPr>
        <dsp:cNvPr id="0" name=""/>
        <dsp:cNvSpPr/>
      </dsp:nvSpPr>
      <dsp:spPr>
        <a:xfrm rot="5400000">
          <a:off x="-104813" y="106400"/>
          <a:ext cx="698757" cy="489130"/>
        </a:xfrm>
        <a:prstGeom prst="chevron">
          <a:avLst/>
        </a:prstGeom>
        <a:solidFill>
          <a:schemeClr val="accent2"/>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t>First</a:t>
          </a:r>
        </a:p>
      </dsp:txBody>
      <dsp:txXfrm rot="-5400000">
        <a:off x="1" y="246151"/>
        <a:ext cx="489130" cy="209627"/>
      </dsp:txXfrm>
    </dsp:sp>
    <dsp:sp modelId="{EA0263FA-92D6-3348-95F1-432FA8347B36}">
      <dsp:nvSpPr>
        <dsp:cNvPr id="0" name=""/>
        <dsp:cNvSpPr/>
      </dsp:nvSpPr>
      <dsp:spPr>
        <a:xfrm rot="5400000">
          <a:off x="2358394" y="-1867678"/>
          <a:ext cx="454192" cy="419272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Removed header rows not part of the data</a:t>
          </a:r>
        </a:p>
      </dsp:txBody>
      <dsp:txXfrm rot="-5400000">
        <a:off x="489130" y="23758"/>
        <a:ext cx="4170549" cy="409848"/>
      </dsp:txXfrm>
    </dsp:sp>
    <dsp:sp modelId="{E143DB21-D331-AE40-BEB0-3ADD8767D894}">
      <dsp:nvSpPr>
        <dsp:cNvPr id="0" name=""/>
        <dsp:cNvSpPr/>
      </dsp:nvSpPr>
      <dsp:spPr>
        <a:xfrm rot="5400000">
          <a:off x="-104813" y="703671"/>
          <a:ext cx="698757" cy="489130"/>
        </a:xfrm>
        <a:prstGeom prst="chevron">
          <a:avLst/>
        </a:prstGeom>
        <a:solidFill>
          <a:schemeClr val="accent2"/>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t>Second</a:t>
          </a:r>
        </a:p>
      </dsp:txBody>
      <dsp:txXfrm rot="-5400000">
        <a:off x="1" y="843422"/>
        <a:ext cx="489130" cy="209627"/>
      </dsp:txXfrm>
    </dsp:sp>
    <dsp:sp modelId="{1648311B-9B8A-1E42-9D6F-13468E43F87E}">
      <dsp:nvSpPr>
        <dsp:cNvPr id="0" name=""/>
        <dsp:cNvSpPr/>
      </dsp:nvSpPr>
      <dsp:spPr>
        <a:xfrm rot="5400000">
          <a:off x="2358394" y="-1270407"/>
          <a:ext cx="454192" cy="419272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Cleaned column names</a:t>
          </a:r>
        </a:p>
      </dsp:txBody>
      <dsp:txXfrm rot="-5400000">
        <a:off x="489130" y="621029"/>
        <a:ext cx="4170549" cy="409848"/>
      </dsp:txXfrm>
    </dsp:sp>
    <dsp:sp modelId="{47E948FA-54F2-4446-9F0C-9203AD7F6D54}">
      <dsp:nvSpPr>
        <dsp:cNvPr id="0" name=""/>
        <dsp:cNvSpPr/>
      </dsp:nvSpPr>
      <dsp:spPr>
        <a:xfrm rot="5400000">
          <a:off x="-104813" y="1300942"/>
          <a:ext cx="698757" cy="489130"/>
        </a:xfrm>
        <a:prstGeom prst="chevron">
          <a:avLst/>
        </a:prstGeom>
        <a:solidFill>
          <a:schemeClr val="accent2"/>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t>Third</a:t>
          </a:r>
        </a:p>
      </dsp:txBody>
      <dsp:txXfrm rot="-5400000">
        <a:off x="1" y="1440693"/>
        <a:ext cx="489130" cy="209627"/>
      </dsp:txXfrm>
    </dsp:sp>
    <dsp:sp modelId="{616F2922-3580-7444-B848-91A21F62B428}">
      <dsp:nvSpPr>
        <dsp:cNvPr id="0" name=""/>
        <dsp:cNvSpPr/>
      </dsp:nvSpPr>
      <dsp:spPr>
        <a:xfrm rot="5400000">
          <a:off x="2358394" y="-673136"/>
          <a:ext cx="454192" cy="419272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Selected the six year-to-date fields</a:t>
          </a:r>
        </a:p>
      </dsp:txBody>
      <dsp:txXfrm rot="-5400000">
        <a:off x="489130" y="1218300"/>
        <a:ext cx="4170549" cy="409848"/>
      </dsp:txXfrm>
    </dsp:sp>
    <dsp:sp modelId="{D0260514-B68F-6741-A117-B0B648A53952}">
      <dsp:nvSpPr>
        <dsp:cNvPr id="0" name=""/>
        <dsp:cNvSpPr/>
      </dsp:nvSpPr>
      <dsp:spPr>
        <a:xfrm rot="5400000">
          <a:off x="-104813" y="1898213"/>
          <a:ext cx="698757" cy="489130"/>
        </a:xfrm>
        <a:prstGeom prst="chevron">
          <a:avLst/>
        </a:prstGeom>
        <a:solidFill>
          <a:schemeClr val="accent2"/>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t>Fourth</a:t>
          </a:r>
        </a:p>
      </dsp:txBody>
      <dsp:txXfrm rot="-5400000">
        <a:off x="1" y="2037964"/>
        <a:ext cx="489130" cy="209627"/>
      </dsp:txXfrm>
    </dsp:sp>
    <dsp:sp modelId="{27937ED3-491F-504B-8B68-CEE3762E709C}">
      <dsp:nvSpPr>
        <dsp:cNvPr id="0" name=""/>
        <dsp:cNvSpPr/>
      </dsp:nvSpPr>
      <dsp:spPr>
        <a:xfrm rot="5400000">
          <a:off x="2358394" y="-75864"/>
          <a:ext cx="454192" cy="419272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Converted variables to numeric</a:t>
          </a:r>
        </a:p>
      </dsp:txBody>
      <dsp:txXfrm rot="-5400000">
        <a:off x="489130" y="1815572"/>
        <a:ext cx="4170549" cy="409848"/>
      </dsp:txXfrm>
    </dsp:sp>
    <dsp:sp modelId="{B1C87F48-8192-164F-BB36-9114B55DE787}">
      <dsp:nvSpPr>
        <dsp:cNvPr id="0" name=""/>
        <dsp:cNvSpPr/>
      </dsp:nvSpPr>
      <dsp:spPr>
        <a:xfrm rot="5400000">
          <a:off x="-104813" y="2495484"/>
          <a:ext cx="698757" cy="489130"/>
        </a:xfrm>
        <a:prstGeom prst="chevron">
          <a:avLst/>
        </a:prstGeom>
        <a:solidFill>
          <a:schemeClr val="accent2"/>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t>Fifth</a:t>
          </a:r>
        </a:p>
      </dsp:txBody>
      <dsp:txXfrm rot="-5400000">
        <a:off x="1" y="2635235"/>
        <a:ext cx="489130" cy="209627"/>
      </dsp:txXfrm>
    </dsp:sp>
    <dsp:sp modelId="{E5733DE1-DEAE-614D-B446-F7B2688C1CB1}">
      <dsp:nvSpPr>
        <dsp:cNvPr id="0" name=""/>
        <dsp:cNvSpPr/>
      </dsp:nvSpPr>
      <dsp:spPr>
        <a:xfrm rot="5400000">
          <a:off x="2358394" y="521406"/>
          <a:ext cx="454192" cy="419272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Removed one incomplete observation</a:t>
          </a:r>
        </a:p>
      </dsp:txBody>
      <dsp:txXfrm rot="-5400000">
        <a:off x="489130" y="2412842"/>
        <a:ext cx="4170549" cy="409848"/>
      </dsp:txXfrm>
    </dsp:sp>
    <dsp:sp modelId="{0A2E3FB2-2B67-7240-B828-219470737ED9}">
      <dsp:nvSpPr>
        <dsp:cNvPr id="0" name=""/>
        <dsp:cNvSpPr/>
      </dsp:nvSpPr>
      <dsp:spPr>
        <a:xfrm rot="5400000">
          <a:off x="-104813" y="3092755"/>
          <a:ext cx="698757" cy="489130"/>
        </a:xfrm>
        <a:prstGeom prst="chevron">
          <a:avLst/>
        </a:prstGeom>
        <a:solidFill>
          <a:schemeClr val="accent2"/>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dirty="0"/>
            <a:t>Sixth</a:t>
          </a:r>
        </a:p>
      </dsp:txBody>
      <dsp:txXfrm rot="-5400000">
        <a:off x="1" y="3232506"/>
        <a:ext cx="489130" cy="209627"/>
      </dsp:txXfrm>
    </dsp:sp>
    <dsp:sp modelId="{7197D21C-4F0A-DD48-9CBE-5C9C258696CF}">
      <dsp:nvSpPr>
        <dsp:cNvPr id="0" name=""/>
        <dsp:cNvSpPr/>
      </dsp:nvSpPr>
      <dsp:spPr>
        <a:xfrm rot="5400000">
          <a:off x="2358394" y="1118677"/>
          <a:ext cx="454192" cy="419272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a:t>Scaled numeric fields prior to clustering</a:t>
          </a:r>
        </a:p>
      </dsp:txBody>
      <dsp:txXfrm rot="-5400000">
        <a:off x="489130" y="3010113"/>
        <a:ext cx="4170549" cy="4098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C4049A-E4B3-A34E-B1AD-E67C8350E010}">
      <dsp:nvSpPr>
        <dsp:cNvPr id="0" name=""/>
        <dsp:cNvSpPr/>
      </dsp:nvSpPr>
      <dsp:spPr>
        <a:xfrm>
          <a:off x="0" y="0"/>
          <a:ext cx="10515600" cy="635210"/>
        </a:xfrm>
        <a:prstGeom prst="roundRect">
          <a:avLst/>
        </a:prstGeom>
        <a:solidFill>
          <a:schemeClr val="accent2"/>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t>Guiding Questions:</a:t>
          </a:r>
        </a:p>
      </dsp:txBody>
      <dsp:txXfrm>
        <a:off x="31008" y="31008"/>
        <a:ext cx="10453584" cy="573194"/>
      </dsp:txXfrm>
    </dsp:sp>
    <dsp:sp modelId="{9D6F8D81-1036-454E-99D4-925B0B74A18D}">
      <dsp:nvSpPr>
        <dsp:cNvPr id="0" name=""/>
        <dsp:cNvSpPr/>
      </dsp:nvSpPr>
      <dsp:spPr>
        <a:xfrm>
          <a:off x="0" y="1053385"/>
          <a:ext cx="10515600" cy="2649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0640" rIns="227584" bIns="40640" numCol="1" spcCol="1270" anchor="t" anchorCtr="0">
          <a:noAutofit/>
        </a:bodyPr>
        <a:lstStyle/>
        <a:p>
          <a:pPr marL="285750" lvl="1" indent="-285750" algn="l" defTabSz="1422400">
            <a:lnSpc>
              <a:spcPct val="90000"/>
            </a:lnSpc>
            <a:spcBef>
              <a:spcPct val="0"/>
            </a:spcBef>
            <a:spcAft>
              <a:spcPct val="20000"/>
            </a:spcAft>
            <a:buChar char="•"/>
          </a:pPr>
          <a:r>
            <a:rPr lang="en-US" sz="3200" kern="1200" dirty="0"/>
            <a:t>What is the optimal number of clusters?</a:t>
          </a:r>
        </a:p>
        <a:p>
          <a:pPr marL="285750" lvl="1" indent="-285750" algn="l" defTabSz="1422400">
            <a:lnSpc>
              <a:spcPct val="90000"/>
            </a:lnSpc>
            <a:spcBef>
              <a:spcPct val="0"/>
            </a:spcBef>
            <a:spcAft>
              <a:spcPct val="20000"/>
            </a:spcAft>
            <a:buChar char="•"/>
          </a:pPr>
          <a:r>
            <a:rPr lang="en-US" sz="3200" kern="1200" dirty="0"/>
            <a:t>What natural groups appear in the data?</a:t>
          </a:r>
        </a:p>
        <a:p>
          <a:pPr marL="285750" lvl="1" indent="-285750" algn="l" defTabSz="1422400">
            <a:lnSpc>
              <a:spcPct val="90000"/>
            </a:lnSpc>
            <a:spcBef>
              <a:spcPct val="0"/>
            </a:spcBef>
            <a:spcAft>
              <a:spcPct val="20000"/>
            </a:spcAft>
            <a:buChar char="•"/>
          </a:pPr>
          <a:r>
            <a:rPr lang="en-US" sz="3200" kern="1200" dirty="0"/>
            <a:t>What characteristics define these groups?</a:t>
          </a:r>
        </a:p>
        <a:p>
          <a:pPr marL="285750" lvl="1" indent="-285750" algn="l" defTabSz="1422400">
            <a:lnSpc>
              <a:spcPct val="90000"/>
            </a:lnSpc>
            <a:spcBef>
              <a:spcPct val="0"/>
            </a:spcBef>
            <a:spcAft>
              <a:spcPct val="20000"/>
            </a:spcAft>
            <a:buChar char="•"/>
          </a:pPr>
          <a:r>
            <a:rPr lang="en-US" sz="3200" kern="1200" dirty="0"/>
            <a:t>Are any clusters unusual or requiring further investigation?</a:t>
          </a:r>
        </a:p>
      </dsp:txBody>
      <dsp:txXfrm>
        <a:off x="0" y="1053385"/>
        <a:ext cx="10515600" cy="26496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07D28E-9E33-604F-9281-05D4D3C9622C}">
      <dsp:nvSpPr>
        <dsp:cNvPr id="0" name=""/>
        <dsp:cNvSpPr/>
      </dsp:nvSpPr>
      <dsp:spPr>
        <a:xfrm>
          <a:off x="0" y="372180"/>
          <a:ext cx="8034294" cy="428399"/>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41D14A-014B-A34D-A775-AEB036B44113}">
      <dsp:nvSpPr>
        <dsp:cNvPr id="0" name=""/>
        <dsp:cNvSpPr/>
      </dsp:nvSpPr>
      <dsp:spPr>
        <a:xfrm>
          <a:off x="234613" y="139608"/>
          <a:ext cx="7630743" cy="53336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2574" tIns="0" rIns="212574" bIns="0" numCol="1" spcCol="1270" anchor="ctr" anchorCtr="0">
          <a:noAutofit/>
        </a:bodyPr>
        <a:lstStyle/>
        <a:p>
          <a:pPr marL="0" lvl="0" indent="0" algn="ctr" defTabSz="1600200">
            <a:lnSpc>
              <a:spcPct val="90000"/>
            </a:lnSpc>
            <a:spcBef>
              <a:spcPct val="0"/>
            </a:spcBef>
            <a:spcAft>
              <a:spcPct val="35000"/>
            </a:spcAft>
            <a:buNone/>
          </a:pPr>
          <a:r>
            <a:rPr lang="en-US" sz="3600" b="1" i="0" kern="1200" baseline="0" dirty="0"/>
            <a:t>Cluster Sizes:</a:t>
          </a:r>
          <a:endParaRPr lang="en-US" sz="3600" kern="1200" dirty="0"/>
        </a:p>
      </dsp:txBody>
      <dsp:txXfrm>
        <a:off x="260649" y="165644"/>
        <a:ext cx="7578671" cy="481288"/>
      </dsp:txXfrm>
    </dsp:sp>
    <dsp:sp modelId="{9646EA35-0DF9-3440-A082-87450A48CDF5}">
      <dsp:nvSpPr>
        <dsp:cNvPr id="0" name=""/>
        <dsp:cNvSpPr/>
      </dsp:nvSpPr>
      <dsp:spPr>
        <a:xfrm>
          <a:off x="0" y="1143300"/>
          <a:ext cx="8034294" cy="1285199"/>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3550" tIns="354076" rIns="623550" bIns="120904" numCol="1" spcCol="1270" anchor="t" anchorCtr="0">
          <a:noAutofit/>
        </a:bodyPr>
        <a:lstStyle/>
        <a:p>
          <a:pPr marL="171450" lvl="1" indent="-171450" algn="l" defTabSz="755650">
            <a:lnSpc>
              <a:spcPct val="90000"/>
            </a:lnSpc>
            <a:spcBef>
              <a:spcPct val="0"/>
            </a:spcBef>
            <a:spcAft>
              <a:spcPct val="15000"/>
            </a:spcAft>
            <a:buNone/>
          </a:pPr>
          <a:r>
            <a:rPr lang="en-US" sz="1700" b="0" i="0" u="none" kern="1200" dirty="0"/>
            <a:t>High fuel consumption</a:t>
          </a:r>
          <a:endParaRPr lang="en-US" sz="1700" kern="1200" dirty="0"/>
        </a:p>
        <a:p>
          <a:pPr marL="171450" lvl="1" indent="-171450" algn="l" defTabSz="755650">
            <a:lnSpc>
              <a:spcPct val="90000"/>
            </a:lnSpc>
            <a:spcBef>
              <a:spcPct val="0"/>
            </a:spcBef>
            <a:spcAft>
              <a:spcPct val="15000"/>
            </a:spcAft>
            <a:buNone/>
          </a:pPr>
          <a:r>
            <a:rPr lang="en-US" sz="1700" b="0" i="0" u="none" kern="1200" dirty="0"/>
            <a:t>High electricity generation</a:t>
          </a:r>
          <a:endParaRPr lang="en-US" sz="1700" kern="1200" dirty="0"/>
        </a:p>
        <a:p>
          <a:pPr marL="171450" lvl="1" indent="-171450" algn="l" defTabSz="755650">
            <a:lnSpc>
              <a:spcPct val="90000"/>
            </a:lnSpc>
            <a:spcBef>
              <a:spcPct val="0"/>
            </a:spcBef>
            <a:spcAft>
              <a:spcPct val="15000"/>
            </a:spcAft>
            <a:buNone/>
          </a:pPr>
          <a:r>
            <a:rPr lang="en-US" sz="1700" b="0" i="0" u="none" kern="1200" dirty="0"/>
            <a:t>Concentrated in Illinois, Alabama, Washington, and Kansas</a:t>
          </a:r>
          <a:endParaRPr lang="en-US" sz="1700" kern="1200" dirty="0"/>
        </a:p>
      </dsp:txBody>
      <dsp:txXfrm>
        <a:off x="0" y="1143300"/>
        <a:ext cx="8034294" cy="1285199"/>
      </dsp:txXfrm>
    </dsp:sp>
    <dsp:sp modelId="{03436F86-4676-9C43-BC38-48167C2A15D4}">
      <dsp:nvSpPr>
        <dsp:cNvPr id="0" name=""/>
        <dsp:cNvSpPr/>
      </dsp:nvSpPr>
      <dsp:spPr>
        <a:xfrm>
          <a:off x="401714" y="892380"/>
          <a:ext cx="5624005" cy="50184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2574" tIns="0" rIns="212574" bIns="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t>Cluster 1 </a:t>
          </a:r>
          <a:r>
            <a:rPr lang="en-US" sz="1700" b="0" i="0" u="none" kern="1200" dirty="0"/>
            <a:t>High Output Nuclear and Coal</a:t>
          </a:r>
          <a:r>
            <a:rPr lang="en-US" sz="1700" b="0" i="0" kern="1200" baseline="0" dirty="0"/>
            <a:t>: 156 plants</a:t>
          </a:r>
          <a:endParaRPr lang="en-US" sz="1700" kern="1200" dirty="0"/>
        </a:p>
      </dsp:txBody>
      <dsp:txXfrm>
        <a:off x="426212" y="916878"/>
        <a:ext cx="5575009" cy="452844"/>
      </dsp:txXfrm>
    </dsp:sp>
    <dsp:sp modelId="{935CED74-B928-A14E-AF3B-9E0E33391C76}">
      <dsp:nvSpPr>
        <dsp:cNvPr id="0" name=""/>
        <dsp:cNvSpPr/>
      </dsp:nvSpPr>
      <dsp:spPr>
        <a:xfrm>
          <a:off x="0" y="2771220"/>
          <a:ext cx="8034294" cy="1285199"/>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3550" tIns="354076" rIns="623550" bIns="120904" numCol="1" spcCol="1270" anchor="t" anchorCtr="0">
          <a:noAutofit/>
        </a:bodyPr>
        <a:lstStyle/>
        <a:p>
          <a:pPr marL="171450" lvl="1" indent="-171450" algn="l" defTabSz="755650">
            <a:lnSpc>
              <a:spcPct val="90000"/>
            </a:lnSpc>
            <a:spcBef>
              <a:spcPct val="0"/>
            </a:spcBef>
            <a:spcAft>
              <a:spcPct val="15000"/>
            </a:spcAft>
            <a:buNone/>
          </a:pPr>
          <a:r>
            <a:rPr lang="en-US" sz="1700" b="0" i="0" u="none" kern="1200" dirty="0"/>
            <a:t>Extremely high consumption</a:t>
          </a:r>
          <a:endParaRPr lang="en-US" sz="1700" kern="1200" dirty="0"/>
        </a:p>
        <a:p>
          <a:pPr marL="171450" lvl="1" indent="-171450" algn="l" defTabSz="755650">
            <a:lnSpc>
              <a:spcPct val="90000"/>
            </a:lnSpc>
            <a:spcBef>
              <a:spcPct val="0"/>
            </a:spcBef>
            <a:spcAft>
              <a:spcPct val="15000"/>
            </a:spcAft>
            <a:buNone/>
          </a:pPr>
          <a:r>
            <a:rPr lang="en-US" sz="1700" b="0" i="0" u="none" kern="1200" dirty="0"/>
            <a:t>Moderate to high output</a:t>
          </a:r>
          <a:endParaRPr lang="en-US" sz="1700" kern="1200" dirty="0"/>
        </a:p>
        <a:p>
          <a:pPr marL="171450" lvl="1" indent="-171450" algn="l" defTabSz="755650">
            <a:lnSpc>
              <a:spcPct val="90000"/>
            </a:lnSpc>
            <a:spcBef>
              <a:spcPct val="0"/>
            </a:spcBef>
            <a:spcAft>
              <a:spcPct val="15000"/>
            </a:spcAft>
            <a:buNone/>
          </a:pPr>
          <a:r>
            <a:rPr lang="en-US" sz="1700" b="0" i="0" u="none" kern="1200" dirty="0"/>
            <a:t>Concentrated in Texas and Florida</a:t>
          </a:r>
          <a:endParaRPr lang="en-US" sz="1700" kern="1200" dirty="0"/>
        </a:p>
      </dsp:txBody>
      <dsp:txXfrm>
        <a:off x="0" y="2771220"/>
        <a:ext cx="8034294" cy="1285199"/>
      </dsp:txXfrm>
    </dsp:sp>
    <dsp:sp modelId="{1A77DFC3-919E-1F4A-9590-BF79E4595A29}">
      <dsp:nvSpPr>
        <dsp:cNvPr id="0" name=""/>
        <dsp:cNvSpPr/>
      </dsp:nvSpPr>
      <dsp:spPr>
        <a:xfrm>
          <a:off x="401714" y="2520300"/>
          <a:ext cx="5624005" cy="50184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2574" tIns="0" rIns="212574" bIns="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t>Cluster 2 </a:t>
          </a:r>
          <a:r>
            <a:rPr lang="en-US" sz="1700" b="0" i="0" u="none" kern="1200" dirty="0"/>
            <a:t>Natural Gas</a:t>
          </a:r>
          <a:r>
            <a:rPr lang="en-US" sz="1700" b="0" i="0" kern="1200" baseline="0" dirty="0"/>
            <a:t>: 305 plants</a:t>
          </a:r>
          <a:endParaRPr lang="en-US" sz="1700" kern="1200" dirty="0"/>
        </a:p>
      </dsp:txBody>
      <dsp:txXfrm>
        <a:off x="426212" y="2544798"/>
        <a:ext cx="5575009" cy="452844"/>
      </dsp:txXfrm>
    </dsp:sp>
    <dsp:sp modelId="{9533E88C-FC09-734F-890D-698105804032}">
      <dsp:nvSpPr>
        <dsp:cNvPr id="0" name=""/>
        <dsp:cNvSpPr/>
      </dsp:nvSpPr>
      <dsp:spPr>
        <a:xfrm>
          <a:off x="0" y="4399140"/>
          <a:ext cx="8034294" cy="1285199"/>
        </a:xfrm>
        <a:prstGeom prst="rect">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23550" tIns="354076" rIns="623550" bIns="120904" numCol="1" spcCol="1270" anchor="t" anchorCtr="0">
          <a:noAutofit/>
        </a:bodyPr>
        <a:lstStyle/>
        <a:p>
          <a:pPr marL="171450" lvl="1" indent="-171450" algn="l" defTabSz="755650">
            <a:lnSpc>
              <a:spcPct val="90000"/>
            </a:lnSpc>
            <a:spcBef>
              <a:spcPct val="0"/>
            </a:spcBef>
            <a:spcAft>
              <a:spcPct val="15000"/>
            </a:spcAft>
            <a:buNone/>
          </a:pPr>
          <a:r>
            <a:rPr lang="en-US" sz="1700" b="0" i="0" u="none" kern="1200" dirty="0"/>
            <a:t>Near zero fuel consumption</a:t>
          </a:r>
          <a:endParaRPr lang="en-US" sz="1700" kern="1200" dirty="0"/>
        </a:p>
        <a:p>
          <a:pPr marL="171450" lvl="1" indent="-171450" algn="l" defTabSz="755650">
            <a:lnSpc>
              <a:spcPct val="90000"/>
            </a:lnSpc>
            <a:spcBef>
              <a:spcPct val="0"/>
            </a:spcBef>
            <a:spcAft>
              <a:spcPct val="15000"/>
            </a:spcAft>
            <a:buNone/>
          </a:pPr>
          <a:r>
            <a:rPr lang="en-US" sz="1700" b="0" i="0" u="none" kern="1200" dirty="0"/>
            <a:t>Low generation</a:t>
          </a:r>
          <a:endParaRPr lang="en-US" sz="1700" kern="1200" dirty="0"/>
        </a:p>
        <a:p>
          <a:pPr marL="171450" lvl="1" indent="-171450" algn="l" defTabSz="755650">
            <a:lnSpc>
              <a:spcPct val="90000"/>
            </a:lnSpc>
            <a:spcBef>
              <a:spcPct val="0"/>
            </a:spcBef>
            <a:spcAft>
              <a:spcPct val="15000"/>
            </a:spcAft>
            <a:buNone/>
          </a:pPr>
          <a:r>
            <a:rPr lang="en-US" sz="1700" b="0" i="0" u="none" kern="1200" dirty="0"/>
            <a:t>Concentrated in California</a:t>
          </a:r>
          <a:endParaRPr lang="en-US" sz="1700" kern="1200" dirty="0"/>
        </a:p>
      </dsp:txBody>
      <dsp:txXfrm>
        <a:off x="0" y="4399140"/>
        <a:ext cx="8034294" cy="1285199"/>
      </dsp:txXfrm>
    </dsp:sp>
    <dsp:sp modelId="{85F84135-3F6C-A949-AC13-DE006EDBCEC1}">
      <dsp:nvSpPr>
        <dsp:cNvPr id="0" name=""/>
        <dsp:cNvSpPr/>
      </dsp:nvSpPr>
      <dsp:spPr>
        <a:xfrm>
          <a:off x="401714" y="4148220"/>
          <a:ext cx="5624005" cy="5018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12574" tIns="0" rIns="212574" bIns="0" numCol="1" spcCol="1270" anchor="ctr" anchorCtr="0">
          <a:noAutofit/>
        </a:bodyPr>
        <a:lstStyle/>
        <a:p>
          <a:pPr marL="0" lvl="0" indent="0" algn="l" defTabSz="755650">
            <a:lnSpc>
              <a:spcPct val="90000"/>
            </a:lnSpc>
            <a:spcBef>
              <a:spcPct val="0"/>
            </a:spcBef>
            <a:spcAft>
              <a:spcPct val="35000"/>
            </a:spcAft>
            <a:buNone/>
          </a:pPr>
          <a:r>
            <a:rPr lang="en-US" sz="1700" b="0" i="0" kern="1200" baseline="0" dirty="0"/>
            <a:t>Cluster 3 Solar: 16,643 plants</a:t>
          </a:r>
          <a:endParaRPr lang="en-US" sz="1700" kern="1200" dirty="0"/>
        </a:p>
      </dsp:txBody>
      <dsp:txXfrm>
        <a:off x="426212" y="4172718"/>
        <a:ext cx="5575009" cy="4528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8FD914-D152-E843-9FFC-08B156A7C2AB}">
      <dsp:nvSpPr>
        <dsp:cNvPr id="0" name=""/>
        <dsp:cNvSpPr/>
      </dsp:nvSpPr>
      <dsp:spPr>
        <a:xfrm>
          <a:off x="0" y="116559"/>
          <a:ext cx="11292289" cy="67567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ClrTx/>
            <a:buSzTx/>
            <a:buFontTx/>
            <a:buNone/>
          </a:pPr>
          <a:r>
            <a:rPr kumimoji="0" lang="en-US" sz="2300" b="1" i="0" u="none" strike="noStrike" kern="1200" cap="none" normalizeH="0" baseline="0" dirty="0">
              <a:ln>
                <a:noFill/>
              </a:ln>
              <a:solidFill>
                <a:prstClr val="white"/>
              </a:solidFill>
              <a:effectLst/>
              <a:latin typeface="Arial" panose="020B0604020202020204" pitchFamily="34" charset="0"/>
              <a:ea typeface="+mn-ea"/>
              <a:cs typeface="+mn-cs"/>
            </a:rPr>
            <a:t>Summary of Findings</a:t>
          </a:r>
        </a:p>
      </dsp:txBody>
      <dsp:txXfrm>
        <a:off x="32984" y="149543"/>
        <a:ext cx="11226321" cy="609706"/>
      </dsp:txXfrm>
    </dsp:sp>
    <dsp:sp modelId="{3369C864-0F1C-3F43-A6AB-C4E095DE28DF}">
      <dsp:nvSpPr>
        <dsp:cNvPr id="0" name=""/>
        <dsp:cNvSpPr/>
      </dsp:nvSpPr>
      <dsp:spPr>
        <a:xfrm>
          <a:off x="0" y="812578"/>
          <a:ext cx="11292289"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8530" tIns="35560" rIns="199136" bIns="35560" numCol="1" spcCol="1270" anchor="t" anchorCtr="0">
          <a:noAutofit/>
        </a:bodyPr>
        <a:lstStyle/>
        <a:p>
          <a:pPr marL="228600" lvl="1" indent="-228600" algn="l" defTabSz="977900">
            <a:lnSpc>
              <a:spcPct val="90000"/>
            </a:lnSpc>
            <a:spcBef>
              <a:spcPct val="0"/>
            </a:spcBef>
            <a:spcAft>
              <a:spcPct val="20000"/>
            </a:spcAft>
            <a:buChar char="•"/>
          </a:pPr>
          <a:r>
            <a:rPr kumimoji="0" lang="en-US" altLang="en-US" sz="2200" b="0" i="0" u="none" strike="noStrike" kern="1200" cap="none" normalizeH="0" baseline="0" dirty="0">
              <a:ln>
                <a:noFill/>
              </a:ln>
              <a:solidFill>
                <a:schemeClr val="tx1"/>
              </a:solidFill>
              <a:effectLst/>
              <a:latin typeface="Arial" panose="020B0604020202020204" pitchFamily="34" charset="0"/>
            </a:rPr>
            <a:t>Three meaningful clusters identified</a:t>
          </a:r>
          <a:endParaRPr lang="en-US" sz="2200" kern="1200" dirty="0">
            <a:solidFill>
              <a:schemeClr val="tx1"/>
            </a:solidFill>
          </a:endParaRPr>
        </a:p>
        <a:p>
          <a:pPr marL="228600" lvl="1" indent="-228600" algn="l" defTabSz="977900">
            <a:lnSpc>
              <a:spcPct val="90000"/>
            </a:lnSpc>
            <a:spcBef>
              <a:spcPct val="0"/>
            </a:spcBef>
            <a:spcAft>
              <a:spcPct val="20000"/>
            </a:spcAft>
            <a:buChar char="•"/>
          </a:pPr>
          <a:r>
            <a:rPr kumimoji="0" lang="en-US" altLang="en-US" sz="2200" b="0" i="0" u="none" strike="noStrike" kern="1200" cap="none" normalizeH="0" baseline="0" dirty="0">
              <a:ln>
                <a:noFill/>
              </a:ln>
              <a:solidFill>
                <a:schemeClr val="tx1"/>
              </a:solidFill>
              <a:effectLst/>
              <a:latin typeface="Arial" panose="020B0604020202020204" pitchFamily="34" charset="0"/>
            </a:rPr>
            <a:t>Distinct technological and operational patterns</a:t>
          </a:r>
          <a:endParaRPr lang="en-US" sz="2200" kern="1200" dirty="0">
            <a:solidFill>
              <a:schemeClr val="tx1"/>
            </a:solidFill>
          </a:endParaRPr>
        </a:p>
        <a:p>
          <a:pPr marL="228600" lvl="1" indent="-228600" algn="l" defTabSz="977900">
            <a:lnSpc>
              <a:spcPct val="90000"/>
            </a:lnSpc>
            <a:spcBef>
              <a:spcPct val="0"/>
            </a:spcBef>
            <a:spcAft>
              <a:spcPct val="20000"/>
            </a:spcAft>
            <a:buChar char="•"/>
          </a:pPr>
          <a:r>
            <a:rPr kumimoji="0" lang="en-US" altLang="en-US" sz="2200" b="0" i="0" u="none" strike="noStrike" kern="1200" cap="none" normalizeH="0" baseline="0" dirty="0">
              <a:ln>
                <a:noFill/>
              </a:ln>
              <a:solidFill>
                <a:schemeClr val="tx1"/>
              </a:solidFill>
              <a:effectLst/>
              <a:latin typeface="Arial" panose="020B0604020202020204" pitchFamily="34" charset="0"/>
            </a:rPr>
            <a:t>Demonstrates usefulness of PUDL for analysis</a:t>
          </a:r>
          <a:endParaRPr lang="en-US" sz="2200" kern="1200" dirty="0">
            <a:solidFill>
              <a:schemeClr val="tx1"/>
            </a:solidFill>
          </a:endParaRPr>
        </a:p>
      </dsp:txBody>
      <dsp:txXfrm>
        <a:off x="0" y="812578"/>
        <a:ext cx="11292289" cy="1130220"/>
      </dsp:txXfrm>
    </dsp:sp>
    <dsp:sp modelId="{6C32EA6B-1445-7C46-B139-3295DAC1BDA2}">
      <dsp:nvSpPr>
        <dsp:cNvPr id="0" name=""/>
        <dsp:cNvSpPr/>
      </dsp:nvSpPr>
      <dsp:spPr>
        <a:xfrm>
          <a:off x="0" y="1942798"/>
          <a:ext cx="11292289" cy="675674"/>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ClrTx/>
            <a:buSzTx/>
            <a:buFontTx/>
            <a:buNone/>
          </a:pPr>
          <a:r>
            <a:rPr kumimoji="0" lang="en-US" altLang="en-US" sz="2800" b="1" i="0" u="none" strike="noStrike" kern="1200" cap="none" normalizeH="0" baseline="0" dirty="0">
              <a:ln>
                <a:noFill/>
              </a:ln>
              <a:solidFill>
                <a:schemeClr val="tx1"/>
              </a:solidFill>
              <a:effectLst/>
              <a:latin typeface="Arial" panose="020B0604020202020204" pitchFamily="34" charset="0"/>
            </a:rPr>
            <a:t>Key Assumptions:</a:t>
          </a:r>
          <a:endParaRPr lang="en-US" sz="2800" kern="1200" dirty="0">
            <a:solidFill>
              <a:schemeClr val="tx1"/>
            </a:solidFill>
          </a:endParaRPr>
        </a:p>
      </dsp:txBody>
      <dsp:txXfrm>
        <a:off x="32984" y="1975782"/>
        <a:ext cx="11226321" cy="609706"/>
      </dsp:txXfrm>
    </dsp:sp>
    <dsp:sp modelId="{FD616E61-9052-9141-8934-3659577F1BE9}">
      <dsp:nvSpPr>
        <dsp:cNvPr id="0" name=""/>
        <dsp:cNvSpPr/>
      </dsp:nvSpPr>
      <dsp:spPr>
        <a:xfrm>
          <a:off x="0" y="2618473"/>
          <a:ext cx="11292289"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8530" tIns="35560" rIns="199136" bIns="35560" numCol="1" spcCol="1270" anchor="t" anchorCtr="0">
          <a:noAutofit/>
        </a:bodyPr>
        <a:lstStyle/>
        <a:p>
          <a:pPr marL="228600" lvl="1" indent="-228600" algn="l" defTabSz="977900">
            <a:lnSpc>
              <a:spcPct val="90000"/>
            </a:lnSpc>
            <a:spcBef>
              <a:spcPct val="0"/>
            </a:spcBef>
            <a:spcAft>
              <a:spcPct val="20000"/>
            </a:spcAft>
            <a:buClrTx/>
            <a:buSzTx/>
            <a:buFontTx/>
            <a:buNone/>
          </a:pPr>
          <a:r>
            <a:rPr kumimoji="0" lang="en-US" altLang="en-US" sz="2200" b="0" i="0" u="none" strike="noStrike" kern="1200" cap="none" normalizeH="0" baseline="0" dirty="0">
              <a:ln>
                <a:noFill/>
              </a:ln>
              <a:solidFill>
                <a:schemeClr val="tx1"/>
              </a:solidFill>
              <a:effectLst/>
              <a:latin typeface="Arial" panose="020B0604020202020204" pitchFamily="34" charset="0"/>
            </a:rPr>
            <a:t>Standardization required</a:t>
          </a:r>
          <a:endParaRPr lang="en-US" sz="2200" kern="1200" dirty="0">
            <a:solidFill>
              <a:schemeClr val="tx1"/>
            </a:solidFill>
          </a:endParaRPr>
        </a:p>
        <a:p>
          <a:pPr marL="228600" lvl="1" indent="-228600" algn="l" defTabSz="977900">
            <a:lnSpc>
              <a:spcPct val="90000"/>
            </a:lnSpc>
            <a:spcBef>
              <a:spcPct val="0"/>
            </a:spcBef>
            <a:spcAft>
              <a:spcPct val="20000"/>
            </a:spcAft>
            <a:buClrTx/>
            <a:buSzTx/>
            <a:buFontTx/>
            <a:buNone/>
          </a:pPr>
          <a:r>
            <a:rPr kumimoji="0" lang="en-US" altLang="en-US" sz="2200" b="0" i="0" u="none" strike="noStrike" kern="1200" cap="none" normalizeH="0" baseline="0" dirty="0">
              <a:ln>
                <a:noFill/>
              </a:ln>
              <a:solidFill>
                <a:schemeClr val="tx1"/>
              </a:solidFill>
              <a:effectLst/>
              <a:latin typeface="Arial" panose="020B0604020202020204" pitchFamily="34" charset="0"/>
            </a:rPr>
            <a:t>Fuel types used only for interpretation</a:t>
          </a:r>
          <a:endParaRPr lang="en-US" sz="2200" kern="1200" dirty="0">
            <a:solidFill>
              <a:schemeClr val="tx1"/>
            </a:solidFill>
          </a:endParaRPr>
        </a:p>
        <a:p>
          <a:pPr marL="228600" lvl="1" indent="-228600" algn="l" defTabSz="977900">
            <a:lnSpc>
              <a:spcPct val="90000"/>
            </a:lnSpc>
            <a:spcBef>
              <a:spcPct val="0"/>
            </a:spcBef>
            <a:spcAft>
              <a:spcPct val="20000"/>
            </a:spcAft>
            <a:buClrTx/>
            <a:buSzTx/>
            <a:buFontTx/>
            <a:buNone/>
          </a:pPr>
          <a:r>
            <a:rPr kumimoji="0" lang="en-US" altLang="en-US" sz="2200" b="0" i="0" u="none" strike="noStrike" kern="1200" cap="none" normalizeH="0" baseline="0" dirty="0">
              <a:ln>
                <a:noFill/>
              </a:ln>
              <a:solidFill>
                <a:schemeClr val="tx1"/>
              </a:solidFill>
              <a:effectLst/>
              <a:latin typeface="Arial" panose="020B0604020202020204" pitchFamily="34" charset="0"/>
            </a:rPr>
            <a:t>Incomplete records removed</a:t>
          </a:r>
          <a:endParaRPr lang="en-US" sz="2200" kern="1200" dirty="0">
            <a:solidFill>
              <a:schemeClr val="tx1"/>
            </a:solidFill>
          </a:endParaRPr>
        </a:p>
      </dsp:txBody>
      <dsp:txXfrm>
        <a:off x="0" y="2618473"/>
        <a:ext cx="11292289" cy="1130220"/>
      </dsp:txXfrm>
    </dsp:sp>
    <dsp:sp modelId="{8CF501AA-B8F9-A04A-B30B-999A894E52DF}">
      <dsp:nvSpPr>
        <dsp:cNvPr id="0" name=""/>
        <dsp:cNvSpPr/>
      </dsp:nvSpPr>
      <dsp:spPr>
        <a:xfrm>
          <a:off x="0" y="3748693"/>
          <a:ext cx="11292289" cy="675674"/>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kumimoji="0" lang="en-US" altLang="en-US" sz="2800" b="1" i="0" u="none" strike="noStrike" kern="1200" cap="none" normalizeH="0" baseline="0" dirty="0">
              <a:ln>
                <a:noFill/>
              </a:ln>
              <a:solidFill>
                <a:schemeClr val="tx1"/>
              </a:solidFill>
              <a:effectLst/>
              <a:latin typeface="Arial" panose="020B0604020202020204" pitchFamily="34" charset="0"/>
            </a:rPr>
            <a:t>Overall Contribution:</a:t>
          </a:r>
          <a:endParaRPr kumimoji="0" lang="en-US" altLang="en-US" sz="2800" b="0" i="0" u="none" strike="noStrike" kern="1200" cap="none" normalizeH="0" baseline="0" dirty="0">
            <a:ln>
              <a:noFill/>
            </a:ln>
            <a:solidFill>
              <a:schemeClr val="tx1"/>
            </a:solidFill>
            <a:effectLst/>
            <a:latin typeface="Arial" panose="020B0604020202020204" pitchFamily="34" charset="0"/>
          </a:endParaRPr>
        </a:p>
      </dsp:txBody>
      <dsp:txXfrm>
        <a:off x="32984" y="3781677"/>
        <a:ext cx="11226321" cy="609706"/>
      </dsp:txXfrm>
    </dsp:sp>
    <dsp:sp modelId="{FF73EAF2-F514-AF4C-87A0-1D41D5937F4B}">
      <dsp:nvSpPr>
        <dsp:cNvPr id="0" name=""/>
        <dsp:cNvSpPr/>
      </dsp:nvSpPr>
      <dsp:spPr>
        <a:xfrm>
          <a:off x="0" y="4424368"/>
          <a:ext cx="11292289" cy="652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8530" tIns="35560" rIns="199136" bIns="35560" numCol="1" spcCol="1270" anchor="t" anchorCtr="0">
          <a:noAutofit/>
        </a:bodyPr>
        <a:lstStyle/>
        <a:p>
          <a:pPr marL="228600" lvl="1" indent="-228600" algn="l" defTabSz="977900">
            <a:lnSpc>
              <a:spcPct val="90000"/>
            </a:lnSpc>
            <a:spcBef>
              <a:spcPct val="0"/>
            </a:spcBef>
            <a:spcAft>
              <a:spcPct val="20000"/>
            </a:spcAft>
            <a:buChar char="•"/>
          </a:pPr>
          <a:r>
            <a:rPr kumimoji="0" lang="en-US" altLang="en-US" sz="2200" b="0" i="0" u="none" strike="noStrike" kern="1200" cap="none" normalizeH="0" baseline="0" dirty="0">
              <a:ln>
                <a:noFill/>
              </a:ln>
              <a:solidFill>
                <a:schemeClr val="tx1"/>
              </a:solidFill>
              <a:effectLst/>
              <a:latin typeface="Arial" panose="020B0604020202020204" pitchFamily="34" charset="0"/>
            </a:rPr>
            <a:t>Provides a clear view of how different power plant technologies shape the U.S. energy landscape.</a:t>
          </a:r>
        </a:p>
      </dsp:txBody>
      <dsp:txXfrm>
        <a:off x="0" y="4424368"/>
        <a:ext cx="11292289" cy="65205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592FC6-1406-344F-A2D1-04612C901BB7}" type="datetimeFigureOut">
              <a:rPr lang="en-US" smtClean="0"/>
              <a:t>12/7/25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5E219D-2428-3841-B059-489C1B2E3BFC}" type="slidenum">
              <a:rPr lang="en-US" smtClean="0"/>
              <a:t>‹#›</a:t>
            </a:fld>
            <a:endParaRPr lang="en-US"/>
          </a:p>
        </p:txBody>
      </p:sp>
    </p:spTree>
    <p:extLst>
      <p:ext uri="{BB962C8B-B14F-4D97-AF65-F5344CB8AC3E}">
        <p14:creationId xmlns:p14="http://schemas.microsoft.com/office/powerpoint/2010/main" val="2009768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Welcome to our final project presentation for Fundamentals of Machine Learning. Our team analyzed the Public Utility Data Liberation dataset from 2023 and applied clustering techniques to better understand the patterns in fuel consumption and electricity generation across power plants in the United States. In this presentation we will walk through our approach, our findings, and the insights that can help inform top level management decisions.</a:t>
            </a:r>
            <a:endParaRPr lang="en-US" dirty="0"/>
          </a:p>
          <a:p>
            <a:endParaRPr lang="en-US" dirty="0"/>
          </a:p>
        </p:txBody>
      </p:sp>
      <p:sp>
        <p:nvSpPr>
          <p:cNvPr id="4" name="Slide Number Placeholder 3"/>
          <p:cNvSpPr>
            <a:spLocks noGrp="1"/>
          </p:cNvSpPr>
          <p:nvPr>
            <p:ph type="sldNum" sz="quarter" idx="5"/>
          </p:nvPr>
        </p:nvSpPr>
        <p:spPr/>
        <p:txBody>
          <a:bodyPr/>
          <a:lstStyle/>
          <a:p>
            <a:fld id="{125E219D-2428-3841-B059-489C1B2E3BFC}" type="slidenum">
              <a:rPr lang="en-US" smtClean="0"/>
              <a:t>1</a:t>
            </a:fld>
            <a:endParaRPr lang="en-US"/>
          </a:p>
        </p:txBody>
      </p:sp>
    </p:spTree>
    <p:extLst>
      <p:ext uri="{BB962C8B-B14F-4D97-AF65-F5344CB8AC3E}">
        <p14:creationId xmlns:p14="http://schemas.microsoft.com/office/powerpoint/2010/main" val="3458493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This project examined year to date fuel consumption and electricity generation data from the Public Utility Data Liberation project. Using k means clustering we identified three meaningful groups of power plants in the United States. These groups differ in their fuel use, generation output, and the types of technology they rely on. One cluster represents high output nuclear and coal facilities. Another includes natural gas plants with high fuel consumption. The final cluster includes solar plants with near zero fuel use and lower overall output. These findings help reveal how different technologies contribute to the national power system.</a:t>
            </a:r>
            <a:endParaRPr lang="en-US" dirty="0"/>
          </a:p>
        </p:txBody>
      </p:sp>
      <p:sp>
        <p:nvSpPr>
          <p:cNvPr id="4" name="Slide Number Placeholder 3"/>
          <p:cNvSpPr>
            <a:spLocks noGrp="1"/>
          </p:cNvSpPr>
          <p:nvPr>
            <p:ph type="sldNum" sz="quarter" idx="5"/>
          </p:nvPr>
        </p:nvSpPr>
        <p:spPr/>
        <p:txBody>
          <a:bodyPr/>
          <a:lstStyle/>
          <a:p>
            <a:fld id="{125E219D-2428-3841-B059-489C1B2E3BFC}" type="slidenum">
              <a:rPr lang="en-US" smtClean="0"/>
              <a:t>2</a:t>
            </a:fld>
            <a:endParaRPr lang="en-US"/>
          </a:p>
        </p:txBody>
      </p:sp>
    </p:spTree>
    <p:extLst>
      <p:ext uri="{BB962C8B-B14F-4D97-AF65-F5344CB8AC3E}">
        <p14:creationId xmlns:p14="http://schemas.microsoft.com/office/powerpoint/2010/main" val="709618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The Public Utility Data Liberation project makes large and complex government datasets easier to analyze. For this project we used the EIA nine twenty three dataset that captures monthly and year to date electricity generation and fuel consumption. The dataset includes more than seventeen thousand records from plants across all regions of the United States. Because the year to date fields summarize activity across the full year they provided a consistent basis for clustering.</a:t>
            </a:r>
            <a:endParaRPr lang="en-US" dirty="0"/>
          </a:p>
        </p:txBody>
      </p:sp>
      <p:sp>
        <p:nvSpPr>
          <p:cNvPr id="4" name="Slide Number Placeholder 3"/>
          <p:cNvSpPr>
            <a:spLocks noGrp="1"/>
          </p:cNvSpPr>
          <p:nvPr>
            <p:ph type="sldNum" sz="quarter" idx="5"/>
          </p:nvPr>
        </p:nvSpPr>
        <p:spPr/>
        <p:txBody>
          <a:bodyPr/>
          <a:lstStyle/>
          <a:p>
            <a:fld id="{125E219D-2428-3841-B059-489C1B2E3BFC}" type="slidenum">
              <a:rPr lang="en-US" smtClean="0"/>
              <a:t>3</a:t>
            </a:fld>
            <a:endParaRPr lang="en-US"/>
          </a:p>
        </p:txBody>
      </p:sp>
    </p:spTree>
    <p:extLst>
      <p:ext uri="{BB962C8B-B14F-4D97-AF65-F5344CB8AC3E}">
        <p14:creationId xmlns:p14="http://schemas.microsoft.com/office/powerpoint/2010/main" val="19488996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Before performing any analysis we prepared the dataset to ensure accuracy. We removed header rows that were not part of the usable data. We cleaned column names so they could be handled consistently. The six year to date variables were selected and converted to numeric values. We then removed one row that contained missing identification information. Finally we standardized all numeric variables so they would contribute equally to the k means clustering process. This prevented variables measured in larger units from overpowering the other variables used.</a:t>
            </a:r>
            <a:endParaRPr lang="en-US" dirty="0"/>
          </a:p>
        </p:txBody>
      </p:sp>
      <p:sp>
        <p:nvSpPr>
          <p:cNvPr id="4" name="Slide Number Placeholder 3"/>
          <p:cNvSpPr>
            <a:spLocks noGrp="1"/>
          </p:cNvSpPr>
          <p:nvPr>
            <p:ph type="sldNum" sz="quarter" idx="5"/>
          </p:nvPr>
        </p:nvSpPr>
        <p:spPr/>
        <p:txBody>
          <a:bodyPr/>
          <a:lstStyle/>
          <a:p>
            <a:fld id="{125E219D-2428-3841-B059-489C1B2E3BFC}" type="slidenum">
              <a:rPr lang="en-US" smtClean="0"/>
              <a:t>4</a:t>
            </a:fld>
            <a:endParaRPr lang="en-US"/>
          </a:p>
        </p:txBody>
      </p:sp>
    </p:spTree>
    <p:extLst>
      <p:ext uri="{BB962C8B-B14F-4D97-AF65-F5344CB8AC3E}">
        <p14:creationId xmlns:p14="http://schemas.microsoft.com/office/powerpoint/2010/main" val="3331006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E7BB7-0749-49C3-5D62-49DD4EE21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E6E0A-3EFF-38E7-36C0-9842BCAC8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C6BAD8-938F-5E3D-A2D1-F80811C79144}"/>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analysis was guided by four central questions. First we asked how the optimal number of clusters should be chosen. Second we wanted to identify what natural groupings appear within the power plant data. Third we explored which characteristics define each group. Finally we examined whether any clusters show unusual or extreme behavior that requires closer attention.</a:t>
            </a:r>
            <a:endParaRPr lang="en-US" dirty="0"/>
          </a:p>
        </p:txBody>
      </p:sp>
      <p:sp>
        <p:nvSpPr>
          <p:cNvPr id="4" name="Slide Number Placeholder 3">
            <a:extLst>
              <a:ext uri="{FF2B5EF4-FFF2-40B4-BE49-F238E27FC236}">
                <a16:creationId xmlns:a16="http://schemas.microsoft.com/office/drawing/2014/main" id="{F4DC78A0-0BB4-355E-3329-1FCF49ABA7BE}"/>
              </a:ext>
            </a:extLst>
          </p:cNvPr>
          <p:cNvSpPr>
            <a:spLocks noGrp="1"/>
          </p:cNvSpPr>
          <p:nvPr>
            <p:ph type="sldNum" sz="quarter" idx="5"/>
          </p:nvPr>
        </p:nvSpPr>
        <p:spPr/>
        <p:txBody>
          <a:bodyPr/>
          <a:lstStyle/>
          <a:p>
            <a:fld id="{125E219D-2428-3841-B059-489C1B2E3BFC}" type="slidenum">
              <a:rPr lang="en-US" smtClean="0"/>
              <a:t>5</a:t>
            </a:fld>
            <a:endParaRPr lang="en-US"/>
          </a:p>
        </p:txBody>
      </p:sp>
    </p:spTree>
    <p:extLst>
      <p:ext uri="{BB962C8B-B14F-4D97-AF65-F5344CB8AC3E}">
        <p14:creationId xmlns:p14="http://schemas.microsoft.com/office/powerpoint/2010/main" val="2849026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We selected k means clustering because it is an effective method for grouping observations based on similarity and it also is easy to interpret. The variables included in our model were fuel consumption quantities, the energy content of fuel in million British thermal units, electric fuel consumption, and net electricity generation. Standardization ensured that each of these measures contributed equally to the distance calculations that drive the k means algorithm.</a:t>
            </a:r>
            <a:endParaRPr lang="en-US" dirty="0"/>
          </a:p>
        </p:txBody>
      </p:sp>
      <p:sp>
        <p:nvSpPr>
          <p:cNvPr id="4" name="Slide Number Placeholder 3"/>
          <p:cNvSpPr>
            <a:spLocks noGrp="1"/>
          </p:cNvSpPr>
          <p:nvPr>
            <p:ph type="sldNum" sz="quarter" idx="5"/>
          </p:nvPr>
        </p:nvSpPr>
        <p:spPr/>
        <p:txBody>
          <a:bodyPr/>
          <a:lstStyle/>
          <a:p>
            <a:fld id="{125E219D-2428-3841-B059-489C1B2E3BFC}" type="slidenum">
              <a:rPr lang="en-US" smtClean="0"/>
              <a:t>6</a:t>
            </a:fld>
            <a:endParaRPr lang="en-US"/>
          </a:p>
        </p:txBody>
      </p:sp>
    </p:spTree>
    <p:extLst>
      <p:ext uri="{BB962C8B-B14F-4D97-AF65-F5344CB8AC3E}">
        <p14:creationId xmlns:p14="http://schemas.microsoft.com/office/powerpoint/2010/main" val="939197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We first used the elbow method to determine how many clusters should be created. The plot of within cluster variation showed a noticeable bend at three clusters. This suggested that adding additional clusters beyond three did not substantially improve the segmentation of the data.</a:t>
            </a:r>
          </a:p>
          <a:p>
            <a:endParaRPr lang="en-US" dirty="0"/>
          </a:p>
        </p:txBody>
      </p:sp>
      <p:sp>
        <p:nvSpPr>
          <p:cNvPr id="4" name="Slide Number Placeholder 3"/>
          <p:cNvSpPr>
            <a:spLocks noGrp="1"/>
          </p:cNvSpPr>
          <p:nvPr>
            <p:ph type="sldNum" sz="quarter" idx="5"/>
          </p:nvPr>
        </p:nvSpPr>
        <p:spPr/>
        <p:txBody>
          <a:bodyPr/>
          <a:lstStyle/>
          <a:p>
            <a:fld id="{125E219D-2428-3841-B059-489C1B2E3BFC}" type="slidenum">
              <a:rPr lang="en-US" smtClean="0"/>
              <a:t>7</a:t>
            </a:fld>
            <a:endParaRPr lang="en-US"/>
          </a:p>
        </p:txBody>
      </p:sp>
    </p:spTree>
    <p:extLst>
      <p:ext uri="{BB962C8B-B14F-4D97-AF65-F5344CB8AC3E}">
        <p14:creationId xmlns:p14="http://schemas.microsoft.com/office/powerpoint/2010/main" val="1525334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68C82-054D-E1D8-4C52-100B3DE34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A226B-6C55-F37E-D6F7-AE87F2F25F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CC0FE-5094-45FC-F25E-CE9995ADC9CE}"/>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To confirm our choice we also examined the silhouette method. The silhouette scores were highest at three clusters. This indicated that the observations were most clearly separated and most internally consistent when grouped into three segments. Both methods supported the same conclusion.</a:t>
            </a:r>
            <a:endParaRPr lang="en-US" dirty="0"/>
          </a:p>
          <a:p>
            <a:endParaRPr lang="en-US" dirty="0"/>
          </a:p>
        </p:txBody>
      </p:sp>
      <p:sp>
        <p:nvSpPr>
          <p:cNvPr id="4" name="Slide Number Placeholder 3">
            <a:extLst>
              <a:ext uri="{FF2B5EF4-FFF2-40B4-BE49-F238E27FC236}">
                <a16:creationId xmlns:a16="http://schemas.microsoft.com/office/drawing/2014/main" id="{BB9D047D-A6C5-F343-6584-2FC1976A53EA}"/>
              </a:ext>
            </a:extLst>
          </p:cNvPr>
          <p:cNvSpPr>
            <a:spLocks noGrp="1"/>
          </p:cNvSpPr>
          <p:nvPr>
            <p:ph type="sldNum" sz="quarter" idx="5"/>
          </p:nvPr>
        </p:nvSpPr>
        <p:spPr/>
        <p:txBody>
          <a:bodyPr/>
          <a:lstStyle/>
          <a:p>
            <a:fld id="{125E219D-2428-3841-B059-489C1B2E3BFC}" type="slidenum">
              <a:rPr lang="en-US" smtClean="0"/>
              <a:t>8</a:t>
            </a:fld>
            <a:endParaRPr lang="en-US"/>
          </a:p>
        </p:txBody>
      </p:sp>
    </p:spTree>
    <p:extLst>
      <p:ext uri="{BB962C8B-B14F-4D97-AF65-F5344CB8AC3E}">
        <p14:creationId xmlns:p14="http://schemas.microsoft.com/office/powerpoint/2010/main" val="2416497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Based on both methods we selected three clusters as the final solution. The resulting segments varied in size. One cluster contained a small group of highly specialized plants while the others represented larger segments of natural gas and solar facilities. This structure allowed us to meaningfully compare their characteristics.</a:t>
            </a:r>
          </a:p>
          <a:p>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The first cluster represents plants with high fuel consumption and high electricity generation. These include nuclear and large coal facilities which operate at high output levels. The second cluster is dominated by natural gas plants which consume large amounts of fuel and generate moderate to high levels of electricity. The third cluster represents solar plants which consume little to no fuel and produce lower levels of electricity compared to the other groups. These distinctions help clarify the role each technology plays within the national power system.</a:t>
            </a:r>
          </a:p>
          <a:p>
            <a:endParaRPr lang="en-US" dirty="0"/>
          </a:p>
        </p:txBody>
      </p:sp>
      <p:sp>
        <p:nvSpPr>
          <p:cNvPr id="4" name="Slide Number Placeholder 3"/>
          <p:cNvSpPr>
            <a:spLocks noGrp="1"/>
          </p:cNvSpPr>
          <p:nvPr>
            <p:ph type="sldNum" sz="quarter" idx="5"/>
          </p:nvPr>
        </p:nvSpPr>
        <p:spPr/>
        <p:txBody>
          <a:bodyPr/>
          <a:lstStyle/>
          <a:p>
            <a:fld id="{125E219D-2428-3841-B059-489C1B2E3BFC}" type="slidenum">
              <a:rPr lang="en-US" smtClean="0"/>
              <a:t>9</a:t>
            </a:fld>
            <a:endParaRPr lang="en-US"/>
          </a:p>
        </p:txBody>
      </p:sp>
    </p:spTree>
    <p:extLst>
      <p:ext uri="{BB962C8B-B14F-4D97-AF65-F5344CB8AC3E}">
        <p14:creationId xmlns:p14="http://schemas.microsoft.com/office/powerpoint/2010/main" val="29182646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We used principal component analysis to reduce the five numeric variables into two dimensions for visualization. When plotted in two dimensions the three clusters remained clearly separated. This further supported the validity of the segmentation and provided an intuitive view of how power plants differ in their operating characteristics.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We examined the smallest cluster more closely because small segments can sometimes signal anomalies. This group consisted largely of nuclear plants and a few coal plants that operate with high efficiency and large output. After reviewing the underlying data we found no errors. Instead we determined that these plants form a unique and legitimate operational category within the dataset.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25E219D-2428-3841-B059-489C1B2E3BFC}" type="slidenum">
              <a:rPr lang="en-US" smtClean="0"/>
              <a:t>10</a:t>
            </a:fld>
            <a:endParaRPr lang="en-US"/>
          </a:p>
        </p:txBody>
      </p:sp>
    </p:spTree>
    <p:extLst>
      <p:ext uri="{BB962C8B-B14F-4D97-AF65-F5344CB8AC3E}">
        <p14:creationId xmlns:p14="http://schemas.microsoft.com/office/powerpoint/2010/main" val="35822184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E4E4-4244-7CE1-10DC-8A8B16CD2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C3AD63-A913-0896-819E-B64842BD7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0330F-00D6-C51E-84F3-4F862B7AC57C}"/>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Our findings offer meaningful insights for leadership. Nuclear plants deliver high and steady output which supports reliability. Natural gas plants show high consumption patterns and play an important role in meeting regional demand. Solar plants have minimal fuel use and add renewable capacity but operate at lower output levels. Regional patterns also emerged with nuclear concentrated in states such as Illinois and Alabama, natural gas concentrated in Texas and Florida, and solar concentrated in California. These patterns can help guide planning and policy decisions.</a:t>
            </a:r>
          </a:p>
          <a:p>
            <a:endParaRPr lang="en-US"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In conclusion, our clustering analysis identified three meaningful segments within year to date power plant data. These segments highlight how different technologies contribute to the overall structure of the United States power system. We made several assumptions including the need for standardization, the exclusion of incomplete records, and the decision to treat fuel types as descriptive rather than clustering variables. The analysis demonstrates the value of the Public Utility Data Liberation dataset and shows how clustering can provide useful insights for decision making.</a:t>
            </a:r>
            <a:endParaRPr lang="en-US" dirty="0"/>
          </a:p>
        </p:txBody>
      </p:sp>
      <p:sp>
        <p:nvSpPr>
          <p:cNvPr id="4" name="Slide Number Placeholder 3">
            <a:extLst>
              <a:ext uri="{FF2B5EF4-FFF2-40B4-BE49-F238E27FC236}">
                <a16:creationId xmlns:a16="http://schemas.microsoft.com/office/drawing/2014/main" id="{01DEC0D1-D273-999D-F43F-AD3E827F993E}"/>
              </a:ext>
            </a:extLst>
          </p:cNvPr>
          <p:cNvSpPr>
            <a:spLocks noGrp="1"/>
          </p:cNvSpPr>
          <p:nvPr>
            <p:ph type="sldNum" sz="quarter" idx="5"/>
          </p:nvPr>
        </p:nvSpPr>
        <p:spPr/>
        <p:txBody>
          <a:bodyPr/>
          <a:lstStyle/>
          <a:p>
            <a:fld id="{125E219D-2428-3841-B059-489C1B2E3BFC}" type="slidenum">
              <a:rPr lang="en-US" smtClean="0"/>
              <a:t>11</a:t>
            </a:fld>
            <a:endParaRPr lang="en-US"/>
          </a:p>
        </p:txBody>
      </p:sp>
    </p:spTree>
    <p:extLst>
      <p:ext uri="{BB962C8B-B14F-4D97-AF65-F5344CB8AC3E}">
        <p14:creationId xmlns:p14="http://schemas.microsoft.com/office/powerpoint/2010/main" val="1889688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238B7-18E1-BF25-351E-2F916DB634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A7961B8-7D3E-D274-C54E-DE390516D6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05BA34-EF5B-6E64-C172-7DF542E019E8}"/>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5" name="Footer Placeholder 4">
            <a:extLst>
              <a:ext uri="{FF2B5EF4-FFF2-40B4-BE49-F238E27FC236}">
                <a16:creationId xmlns:a16="http://schemas.microsoft.com/office/drawing/2014/main" id="{606034C1-D321-365E-161B-B4FC808D99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0F3599-6E26-1FCA-2211-8BB73ED451C7}"/>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26651450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31467-44BA-5B5C-4DCB-B5BB6754F1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FCD46A-F684-8484-2E5A-6A8C37DAE7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75050F-7AB3-5698-EB48-9BD5C36682EE}"/>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5" name="Footer Placeholder 4">
            <a:extLst>
              <a:ext uri="{FF2B5EF4-FFF2-40B4-BE49-F238E27FC236}">
                <a16:creationId xmlns:a16="http://schemas.microsoft.com/office/drawing/2014/main" id="{65BCF05D-2E60-C4A6-BEAC-6A381BAB24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123B85-B33D-EB65-7224-75B482A2FEAA}"/>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1691139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5313-3BA5-6894-F152-5D40DE0FE7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C1BEC6-A4BF-C088-3F5B-2FFC7F0FE4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0EA2B3-1029-DBBE-6C99-4840D95B0A6E}"/>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5" name="Footer Placeholder 4">
            <a:extLst>
              <a:ext uri="{FF2B5EF4-FFF2-40B4-BE49-F238E27FC236}">
                <a16:creationId xmlns:a16="http://schemas.microsoft.com/office/drawing/2014/main" id="{52B46180-AE05-0DA4-78CA-1CB9C3C18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B79967-11F0-181A-4801-C414073FF262}"/>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1525918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4CC4C-C7F7-FC78-F933-9FAAB6C6E1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15AFA5-C134-798E-6714-123E5B1D61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59E9A9-67F4-3A25-C8EE-FE59BDF7AC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BC6525-D41E-7293-548D-70871A99C3A6}"/>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6" name="Footer Placeholder 5">
            <a:extLst>
              <a:ext uri="{FF2B5EF4-FFF2-40B4-BE49-F238E27FC236}">
                <a16:creationId xmlns:a16="http://schemas.microsoft.com/office/drawing/2014/main" id="{CF293102-C4FD-D906-EC65-46B37BF720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6A6D1-08D8-47E1-0A6D-0C92CD799AA1}"/>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2201342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C60FC-5AF8-1AEF-ADCC-A9D1B070C6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273D9A-C172-5562-E7E4-219B32F25C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8BD50E-5F5A-BF1D-633A-2D6515F036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C79BAA-DFD3-11F2-607B-9C1AECE99A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B3976E-5180-8105-1EFA-B4C648A8C2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D2046E1-70C6-D484-498B-FC254F8BAA62}"/>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8" name="Footer Placeholder 7">
            <a:extLst>
              <a:ext uri="{FF2B5EF4-FFF2-40B4-BE49-F238E27FC236}">
                <a16:creationId xmlns:a16="http://schemas.microsoft.com/office/drawing/2014/main" id="{B817483D-6B58-DED8-3C41-D514180D95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3D298A-3943-AD65-724A-A49D3F9A2267}"/>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2487571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240E8-02EB-668C-AB23-896E5951A2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7DF5CC-1258-0A12-049B-03F0C00636F0}"/>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4" name="Footer Placeholder 3">
            <a:extLst>
              <a:ext uri="{FF2B5EF4-FFF2-40B4-BE49-F238E27FC236}">
                <a16:creationId xmlns:a16="http://schemas.microsoft.com/office/drawing/2014/main" id="{4914AFCE-3B87-7070-CE04-0359A72DB7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475096-3200-BAA1-2E96-7BE3F9269CC9}"/>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3012596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8274FA-4915-A648-728D-3B0911396965}"/>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3" name="Footer Placeholder 2">
            <a:extLst>
              <a:ext uri="{FF2B5EF4-FFF2-40B4-BE49-F238E27FC236}">
                <a16:creationId xmlns:a16="http://schemas.microsoft.com/office/drawing/2014/main" id="{C0360FFD-75CF-9F37-FCDA-7ECA9C038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A8ABC63-6160-F209-7C2E-FC923CD46F67}"/>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2477253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E52F7-0EEA-35A5-7E84-8847586F43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BD6E38-5D5D-B654-345C-FC0CDEC41A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D4403F-20AD-0830-E4BF-BC3920FAA5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2E73E4-0035-A64D-91BA-6C987219B30D}"/>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6" name="Footer Placeholder 5">
            <a:extLst>
              <a:ext uri="{FF2B5EF4-FFF2-40B4-BE49-F238E27FC236}">
                <a16:creationId xmlns:a16="http://schemas.microsoft.com/office/drawing/2014/main" id="{D348D4A7-BDAE-09CB-865B-CAB6D012AB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D4321-6EAA-EE4B-AF7E-8B2319604803}"/>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3732558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42863-0F98-3C29-C847-829AEE61E9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BF1A73-CFCF-5D10-392F-60FB040871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208E7B-B220-E662-F349-6AE8375CBB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D3FDF-C74E-187A-3B7E-E414D8F35A92}"/>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6" name="Footer Placeholder 5">
            <a:extLst>
              <a:ext uri="{FF2B5EF4-FFF2-40B4-BE49-F238E27FC236}">
                <a16:creationId xmlns:a16="http://schemas.microsoft.com/office/drawing/2014/main" id="{AB36E6FC-FF46-7FF6-E481-F46AB35085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454693-629B-24EE-6F1B-822F8AB13514}"/>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3455132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227F7-A154-2D5C-B385-8CB43848FD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E0BCAA6-EE90-C0E2-0526-B893C30985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683EB3-5422-06A0-9215-56F3C8AD99C9}"/>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5" name="Footer Placeholder 4">
            <a:extLst>
              <a:ext uri="{FF2B5EF4-FFF2-40B4-BE49-F238E27FC236}">
                <a16:creationId xmlns:a16="http://schemas.microsoft.com/office/drawing/2014/main" id="{20EC8552-EA2F-4A10-E970-C2EA46378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E17979-159C-A611-9AF7-87B8960CDD0A}"/>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3580881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28093A-82BB-D320-173B-298F1A5FF5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A8E390-32B9-F745-9B70-482420237D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B77B9-D505-E3E2-7376-73D0CD882D56}"/>
              </a:ext>
            </a:extLst>
          </p:cNvPr>
          <p:cNvSpPr>
            <a:spLocks noGrp="1"/>
          </p:cNvSpPr>
          <p:nvPr>
            <p:ph type="dt" sz="half" idx="10"/>
          </p:nvPr>
        </p:nvSpPr>
        <p:spPr/>
        <p:txBody>
          <a:bodyPr/>
          <a:lstStyle/>
          <a:p>
            <a:fld id="{F3047BA3-03BE-0446-8E32-911DC3CF6C3F}" type="datetimeFigureOut">
              <a:rPr lang="en-US" smtClean="0"/>
              <a:t>12/7/25</a:t>
            </a:fld>
            <a:endParaRPr lang="en-US"/>
          </a:p>
        </p:txBody>
      </p:sp>
      <p:sp>
        <p:nvSpPr>
          <p:cNvPr id="5" name="Footer Placeholder 4">
            <a:extLst>
              <a:ext uri="{FF2B5EF4-FFF2-40B4-BE49-F238E27FC236}">
                <a16:creationId xmlns:a16="http://schemas.microsoft.com/office/drawing/2014/main" id="{F38D2395-5E00-6744-E09A-0089137586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63E7D1-2187-9979-2C29-EAB766BC0DBF}"/>
              </a:ext>
            </a:extLst>
          </p:cNvPr>
          <p:cNvSpPr>
            <a:spLocks noGrp="1"/>
          </p:cNvSpPr>
          <p:nvPr>
            <p:ph type="sldNum" sz="quarter" idx="12"/>
          </p:nvPr>
        </p:nvSpPr>
        <p:spPr/>
        <p:txBody>
          <a:bodyPr/>
          <a:lstStyle/>
          <a:p>
            <a:fld id="{1AB3C5E7-6BC2-904F-95D2-435181E32E98}" type="slidenum">
              <a:rPr lang="en-US" smtClean="0"/>
              <a:t>‹#›</a:t>
            </a:fld>
            <a:endParaRPr lang="en-US"/>
          </a:p>
        </p:txBody>
      </p:sp>
    </p:spTree>
    <p:extLst>
      <p:ext uri="{BB962C8B-B14F-4D97-AF65-F5344CB8AC3E}">
        <p14:creationId xmlns:p14="http://schemas.microsoft.com/office/powerpoint/2010/main" val="3383376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385C7D-62AC-3F0D-E23C-16C83A13F3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EABBCD-7AF4-B459-ACC2-6143166FB1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5ECFBC-1E4A-915B-6297-EC76BD4527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3047BA3-03BE-0446-8E32-911DC3CF6C3F}" type="datetimeFigureOut">
              <a:rPr lang="en-US" smtClean="0"/>
              <a:t>12/7/25</a:t>
            </a:fld>
            <a:endParaRPr lang="en-US"/>
          </a:p>
        </p:txBody>
      </p:sp>
      <p:sp>
        <p:nvSpPr>
          <p:cNvPr id="5" name="Footer Placeholder 4">
            <a:extLst>
              <a:ext uri="{FF2B5EF4-FFF2-40B4-BE49-F238E27FC236}">
                <a16:creationId xmlns:a16="http://schemas.microsoft.com/office/drawing/2014/main" id="{0150C3A4-AB88-0559-259F-AF02AA35AE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6D49FDC-4819-A1C6-8D44-AA16EC869C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B3C5E7-6BC2-904F-95D2-435181E32E98}" type="slidenum">
              <a:rPr lang="en-US" smtClean="0"/>
              <a:t>‹#›</a:t>
            </a:fld>
            <a:endParaRPr lang="en-US"/>
          </a:p>
        </p:txBody>
      </p:sp>
    </p:spTree>
    <p:extLst>
      <p:ext uri="{BB962C8B-B14F-4D97-AF65-F5344CB8AC3E}">
        <p14:creationId xmlns:p14="http://schemas.microsoft.com/office/powerpoint/2010/main" val="17464771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slideLayout" Target="../slideLayouts/slideLayout7.xml"/><Relationship Id="rId7" Type="http://schemas.openxmlformats.org/officeDocument/2006/relationships/diagramLayout" Target="../diagrams/layout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diagramData" Target="../diagrams/data1.xml"/><Relationship Id="rId11" Type="http://schemas.openxmlformats.org/officeDocument/2006/relationships/image" Target="../media/image2.png"/><Relationship Id="rId5" Type="http://schemas.openxmlformats.org/officeDocument/2006/relationships/image" Target="../media/image3.jpeg"/><Relationship Id="rId10" Type="http://schemas.microsoft.com/office/2007/relationships/diagramDrawing" Target="../diagrams/drawing1.xml"/><Relationship Id="rId4" Type="http://schemas.openxmlformats.org/officeDocument/2006/relationships/notesSlide" Target="../notesSlides/notesSlide2.xml"/><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slideLayout" Target="../slideLayouts/slideLayout7.xml"/><Relationship Id="rId7" Type="http://schemas.openxmlformats.org/officeDocument/2006/relationships/diagramQuickStyle" Target="../diagrams/quickStyle2.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2.png"/><Relationship Id="rId4" Type="http://schemas.openxmlformats.org/officeDocument/2006/relationships/notesSlide" Target="../notesSlides/notesSlide3.xml"/><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3.xml"/><Relationship Id="rId3" Type="http://schemas.openxmlformats.org/officeDocument/2006/relationships/slideLayout" Target="../slideLayouts/slideLayout7.xml"/><Relationship Id="rId7" Type="http://schemas.openxmlformats.org/officeDocument/2006/relationships/diagramLayout" Target="../diagrams/layout3.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diagramData" Target="../diagrams/data3.xml"/><Relationship Id="rId11" Type="http://schemas.openxmlformats.org/officeDocument/2006/relationships/image" Target="../media/image2.png"/><Relationship Id="rId5" Type="http://schemas.openxmlformats.org/officeDocument/2006/relationships/image" Target="../media/image4.jpeg"/><Relationship Id="rId10" Type="http://schemas.microsoft.com/office/2007/relationships/diagramDrawing" Target="../diagrams/drawing3.xml"/><Relationship Id="rId4" Type="http://schemas.openxmlformats.org/officeDocument/2006/relationships/notesSlide" Target="../notesSlides/notesSlide4.xml"/><Relationship Id="rId9" Type="http://schemas.openxmlformats.org/officeDocument/2006/relationships/diagramColors" Target="../diagrams/colors3.xml"/></Relationships>
</file>

<file path=ppt/slides/_rels/slide5.xml.rels><?xml version="1.0" encoding="UTF-8" standalone="yes"?>
<Relationships xmlns="http://schemas.openxmlformats.org/package/2006/relationships"><Relationship Id="rId8" Type="http://schemas.openxmlformats.org/officeDocument/2006/relationships/diagramQuickStyle" Target="../diagrams/quickStyle4.xml"/><Relationship Id="rId3" Type="http://schemas.openxmlformats.org/officeDocument/2006/relationships/slideLayout" Target="../slideLayouts/slideLayout7.xml"/><Relationship Id="rId7" Type="http://schemas.openxmlformats.org/officeDocument/2006/relationships/diagramLayout" Target="../diagrams/layout4.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diagramData" Target="../diagrams/data4.xml"/><Relationship Id="rId11" Type="http://schemas.openxmlformats.org/officeDocument/2006/relationships/image" Target="../media/image2.png"/><Relationship Id="rId5" Type="http://schemas.openxmlformats.org/officeDocument/2006/relationships/image" Target="../media/image3.jpeg"/><Relationship Id="rId10" Type="http://schemas.microsoft.com/office/2007/relationships/diagramDrawing" Target="../diagrams/drawing4.xml"/><Relationship Id="rId4" Type="http://schemas.openxmlformats.org/officeDocument/2006/relationships/notesSlide" Target="../notesSlides/notesSlide5.xml"/><Relationship Id="rId9" Type="http://schemas.openxmlformats.org/officeDocument/2006/relationships/diagramColors" Target="../diagrams/colors4.xml"/></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slideLayout" Target="../slideLayouts/slideLayout7.xml"/><Relationship Id="rId7" Type="http://schemas.openxmlformats.org/officeDocument/2006/relationships/image" Target="../media/image7.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notesSlide" Target="../notesSlides/notesSlide6.xml"/><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2.png"/><Relationship Id="rId5"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slideLayout" Target="../slideLayouts/slideLayout7.xml"/><Relationship Id="rId7" Type="http://schemas.openxmlformats.org/officeDocument/2006/relationships/diagramQuickStyle" Target="../diagrams/quickStyle5.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diagramLayout" Target="../diagrams/layout5.xml"/><Relationship Id="rId5" Type="http://schemas.openxmlformats.org/officeDocument/2006/relationships/diagramData" Target="../diagrams/data5.xml"/><Relationship Id="rId10" Type="http://schemas.openxmlformats.org/officeDocument/2006/relationships/image" Target="../media/image2.png"/><Relationship Id="rId4" Type="http://schemas.openxmlformats.org/officeDocument/2006/relationships/notesSlide" Target="../notesSlides/notesSlide9.xml"/><Relationship Id="rId9" Type="http://schemas.microsoft.com/office/2007/relationships/diagramDrawing" Target="../diagrams/drawing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slideLayout" Target="../slideLayouts/slideLayout7.xml"/><Relationship Id="rId7" Type="http://schemas.openxmlformats.org/officeDocument/2006/relationships/diagramLayout" Target="../diagrams/layout6.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diagramData" Target="../diagrams/data6.xml"/><Relationship Id="rId11" Type="http://schemas.openxmlformats.org/officeDocument/2006/relationships/image" Target="../media/image2.png"/><Relationship Id="rId5" Type="http://schemas.openxmlformats.org/officeDocument/2006/relationships/image" Target="../media/image3.jpeg"/><Relationship Id="rId10" Type="http://schemas.microsoft.com/office/2007/relationships/diagramDrawing" Target="../diagrams/drawing6.xml"/><Relationship Id="rId4" Type="http://schemas.openxmlformats.org/officeDocument/2006/relationships/notesSlide" Target="../notesSlides/notesSlide11.xml"/><Relationship Id="rId9" Type="http://schemas.openxmlformats.org/officeDocument/2006/relationships/diagramColors" Target="../diagrams/colors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4" name="Picture 13" descr="Thermal power station">
            <a:extLst>
              <a:ext uri="{FF2B5EF4-FFF2-40B4-BE49-F238E27FC236}">
                <a16:creationId xmlns:a16="http://schemas.microsoft.com/office/drawing/2014/main" id="{D346B5D0-935F-9DFE-9F15-9078825F5DB5}"/>
              </a:ext>
            </a:extLst>
          </p:cNvPr>
          <p:cNvPicPr>
            <a:picLocks noChangeAspect="1"/>
          </p:cNvPicPr>
          <p:nvPr/>
        </p:nvPicPr>
        <p:blipFill>
          <a:blip r:embed="rId5">
            <a:alphaModFix amt="50000"/>
          </a:blip>
          <a:srcRect t="2500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29357C66-F71D-08BF-0148-F23BD59AAB87}"/>
              </a:ext>
            </a:extLst>
          </p:cNvPr>
          <p:cNvSpPr>
            <a:spLocks noGrp="1"/>
          </p:cNvSpPr>
          <p:nvPr>
            <p:ph type="ctrTitle"/>
          </p:nvPr>
        </p:nvSpPr>
        <p:spPr>
          <a:xfrm>
            <a:off x="1524000" y="1122362"/>
            <a:ext cx="9144000" cy="2900518"/>
          </a:xfrm>
        </p:spPr>
        <p:txBody>
          <a:bodyPr>
            <a:normAutofit/>
          </a:bodyPr>
          <a:lstStyle/>
          <a:p>
            <a:r>
              <a:rPr lang="en-US">
                <a:solidFill>
                  <a:srgbClr val="FFFFFF"/>
                </a:solidFill>
              </a:rPr>
              <a:t>Clustering Analysis of U.S. Power Plants Using 2023 PUDL Data</a:t>
            </a:r>
          </a:p>
        </p:txBody>
      </p:sp>
      <p:sp>
        <p:nvSpPr>
          <p:cNvPr id="3" name="Subtitle 2">
            <a:extLst>
              <a:ext uri="{FF2B5EF4-FFF2-40B4-BE49-F238E27FC236}">
                <a16:creationId xmlns:a16="http://schemas.microsoft.com/office/drawing/2014/main" id="{B4175AD9-7EAF-A9E9-C81D-AACDF2051656}"/>
              </a:ext>
            </a:extLst>
          </p:cNvPr>
          <p:cNvSpPr>
            <a:spLocks noGrp="1"/>
          </p:cNvSpPr>
          <p:nvPr>
            <p:ph type="subTitle" idx="1"/>
          </p:nvPr>
        </p:nvSpPr>
        <p:spPr>
          <a:xfrm>
            <a:off x="1524000" y="4159404"/>
            <a:ext cx="9144000" cy="1098395"/>
          </a:xfrm>
        </p:spPr>
        <p:txBody>
          <a:bodyPr>
            <a:normAutofit/>
          </a:bodyPr>
          <a:lstStyle/>
          <a:p>
            <a:r>
              <a:rPr lang="en-US" sz="1700" dirty="0">
                <a:solidFill>
                  <a:srgbClr val="FFFFFF"/>
                </a:solidFill>
              </a:rPr>
              <a:t>FUNDAMENTALS OF MACHINE LEARNING BA 64060 Final Project</a:t>
            </a:r>
          </a:p>
          <a:p>
            <a:endParaRPr lang="en-US" sz="1700" dirty="0">
              <a:solidFill>
                <a:srgbClr val="FFFFFF"/>
              </a:solidFill>
            </a:endParaRPr>
          </a:p>
          <a:p>
            <a:r>
              <a:rPr lang="en-US" sz="1700" dirty="0">
                <a:solidFill>
                  <a:srgbClr val="FFFFFF"/>
                </a:solidFill>
              </a:rPr>
              <a:t>Group 2: Kyle </a:t>
            </a:r>
            <a:r>
              <a:rPr lang="en-US" sz="1700" dirty="0" err="1">
                <a:solidFill>
                  <a:srgbClr val="FFFFFF"/>
                </a:solidFill>
              </a:rPr>
              <a:t>Beeden</a:t>
            </a:r>
            <a:r>
              <a:rPr lang="en-US" sz="1700" dirty="0">
                <a:solidFill>
                  <a:srgbClr val="FFFFFF"/>
                </a:solidFill>
              </a:rPr>
              <a:t>, Melissa Dennis, and Stephen Gombos </a:t>
            </a:r>
          </a:p>
        </p:txBody>
      </p:sp>
      <p:pic>
        <p:nvPicPr>
          <p:cNvPr id="45" name="Audio 44">
            <a:extLst>
              <a:ext uri="{FF2B5EF4-FFF2-40B4-BE49-F238E27FC236}">
                <a16:creationId xmlns:a16="http://schemas.microsoft.com/office/drawing/2014/main" id="{460B21AE-6A3F-D9F8-A3A1-D9E72FA1B3E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349999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30240"/>
    </mc:Choice>
    <mc:Fallback>
      <p:transition spd="slow" advTm="30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5"/>
                                        </p:tgtEl>
                                      </p:cBhvr>
                                    </p:cmd>
                                  </p:childTnLst>
                                </p:cTn>
                              </p:par>
                              <p:par>
                                <p:cTn id="7" presetID="10" presetClass="entr" presetSubtype="0" fill="hold" grpId="0" nodeType="withEffect">
                                  <p:stCondLst>
                                    <p:cond delay="1000"/>
                                  </p:stCondLst>
                                  <p:iterate type="lt">
                                    <p:tmPct val="10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400"/>
                                        <p:tgtEl>
                                          <p:spTgt spid="2"/>
                                        </p:tgtEl>
                                      </p:cBhvr>
                                    </p:animEffect>
                                  </p:childTnLst>
                                </p:cTn>
                              </p:par>
                              <p:par>
                                <p:cTn id="10" presetID="10" presetClass="entr" presetSubtype="0" fill="hold" grpId="0" nodeType="withEffect">
                                  <p:stCondLst>
                                    <p:cond delay="2000"/>
                                  </p:stCondLst>
                                  <p:iterate type="lt">
                                    <p:tmPct val="10000"/>
                                  </p:iterate>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4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2000"/>
                                  </p:stCondLst>
                                  <p:iterate type="lt">
                                    <p:tmPct val="1000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8" fill="hold" display="0">
                  <p:stCondLst>
                    <p:cond delay="indefinite"/>
                  </p:stCondLst>
                  <p:endCondLst>
                    <p:cond evt="onStopAudio" delay="0">
                      <p:tgtEl>
                        <p:sldTgt/>
                      </p:tgtEl>
                    </p:cond>
                  </p:endCondLst>
                </p:cTn>
                <p:tgtEl>
                  <p:spTgt spid="45"/>
                </p:tgtEl>
              </p:cMediaNode>
            </p:audio>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close-up of several blue lines&#10;&#10;AI-generated content may be incorrect.">
            <a:extLst>
              <a:ext uri="{FF2B5EF4-FFF2-40B4-BE49-F238E27FC236}">
                <a16:creationId xmlns:a16="http://schemas.microsoft.com/office/drawing/2014/main" id="{F3AA5A1C-5A69-9FC3-8914-81E84131E09C}"/>
              </a:ext>
            </a:extLst>
          </p:cNvPr>
          <p:cNvPicPr>
            <a:picLocks noChangeAspect="1"/>
          </p:cNvPicPr>
          <p:nvPr/>
        </p:nvPicPr>
        <p:blipFill>
          <a:blip r:embed="rId5">
            <a:alphaModFix amt="35000"/>
          </a:blip>
          <a:srcRect t="6565" b="916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F633319D-AE64-1F26-5212-9BA1D6FCA6FE}"/>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a:solidFill>
                  <a:srgbClr val="FFFFFF"/>
                </a:solidFill>
                <a:latin typeface="+mj-lt"/>
                <a:ea typeface="+mj-ea"/>
                <a:cs typeface="+mj-cs"/>
              </a:rPr>
              <a:t>Executive Summary</a:t>
            </a:r>
          </a:p>
        </p:txBody>
      </p:sp>
      <p:graphicFrame>
        <p:nvGraphicFramePr>
          <p:cNvPr id="16" name="TextBox 4">
            <a:extLst>
              <a:ext uri="{FF2B5EF4-FFF2-40B4-BE49-F238E27FC236}">
                <a16:creationId xmlns:a16="http://schemas.microsoft.com/office/drawing/2014/main" id="{F2577967-67E1-B899-D6CA-472D64EE97EB}"/>
              </a:ext>
            </a:extLst>
          </p:cNvPr>
          <p:cNvGraphicFramePr/>
          <p:nvPr>
            <p:extLst>
              <p:ext uri="{D42A27DB-BD31-4B8C-83A1-F6EECF244321}">
                <p14:modId xmlns:p14="http://schemas.microsoft.com/office/powerpoint/2010/main" val="249132874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28" name="Audio 27">
            <a:extLst>
              <a:ext uri="{FF2B5EF4-FFF2-40B4-BE49-F238E27FC236}">
                <a16:creationId xmlns:a16="http://schemas.microsoft.com/office/drawing/2014/main" id="{600D2E9B-3F4D-5401-7BB8-0D4CC44BD1A9}"/>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86115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46720"/>
    </mc:Choice>
    <mc:Fallback>
      <p:transition spd="slow" advTm="46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Rectangle 32">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C0E3E18-4D1B-6D7E-1854-BFD1DAD9FE95}"/>
              </a:ext>
            </a:extLst>
          </p:cNvPr>
          <p:cNvSpPr txBox="1"/>
          <p:nvPr/>
        </p:nvSpPr>
        <p:spPr>
          <a:xfrm>
            <a:off x="136634" y="2207172"/>
            <a:ext cx="3565109" cy="1872944"/>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4000" kern="1200" dirty="0">
                <a:solidFill>
                  <a:srgbClr val="FFFFFF"/>
                </a:solidFill>
                <a:latin typeface="+mj-lt"/>
                <a:ea typeface="+mj-ea"/>
                <a:cs typeface="+mj-cs"/>
              </a:rPr>
              <a:t>Introduction to PUDL and the Dataset</a:t>
            </a:r>
          </a:p>
        </p:txBody>
      </p:sp>
      <p:sp>
        <p:nvSpPr>
          <p:cNvPr id="3" name="TextBox 2">
            <a:extLst>
              <a:ext uri="{FF2B5EF4-FFF2-40B4-BE49-F238E27FC236}">
                <a16:creationId xmlns:a16="http://schemas.microsoft.com/office/drawing/2014/main" id="{512B25F0-FD24-14B4-0352-0D88C209CE04}"/>
              </a:ext>
            </a:extLst>
          </p:cNvPr>
          <p:cNvSpPr txBox="1"/>
          <p:nvPr/>
        </p:nvSpPr>
        <p:spPr>
          <a:xfrm>
            <a:off x="4151584" y="193108"/>
            <a:ext cx="7945821" cy="1088978"/>
          </a:xfrm>
          <a:prstGeom prst="rect">
            <a:avLst/>
          </a:prstGeom>
        </p:spPr>
        <p:txBody>
          <a:bodyPr vert="horz" lIns="91440" tIns="45720" rIns="91440" bIns="45720" rtlCol="0" anchor="t">
            <a:normAutofit/>
          </a:bodyPr>
          <a:lstStyle/>
          <a:p>
            <a:pPr>
              <a:lnSpc>
                <a:spcPct val="90000"/>
              </a:lnSpc>
              <a:spcAft>
                <a:spcPts val="600"/>
              </a:spcAft>
            </a:pPr>
            <a:r>
              <a:rPr lang="en-US" sz="2400" b="1" dirty="0"/>
              <a:t>About PUDL:</a:t>
            </a:r>
            <a:br>
              <a:rPr lang="en-US" sz="2400" dirty="0"/>
            </a:br>
            <a:r>
              <a:rPr lang="en-US" sz="2400" dirty="0"/>
              <a:t>An open-source data platform that simplifies U.S. energy data.</a:t>
            </a:r>
          </a:p>
        </p:txBody>
      </p:sp>
      <p:sp>
        <p:nvSpPr>
          <p:cNvPr id="8" name="TextBox 7">
            <a:extLst>
              <a:ext uri="{FF2B5EF4-FFF2-40B4-BE49-F238E27FC236}">
                <a16:creationId xmlns:a16="http://schemas.microsoft.com/office/drawing/2014/main" id="{9F9C532F-2569-234A-5C9E-7E6185D8267F}"/>
              </a:ext>
            </a:extLst>
          </p:cNvPr>
          <p:cNvSpPr txBox="1"/>
          <p:nvPr/>
        </p:nvSpPr>
        <p:spPr>
          <a:xfrm>
            <a:off x="4608660" y="5380795"/>
            <a:ext cx="7379264" cy="723275"/>
          </a:xfrm>
          <a:prstGeom prst="rect">
            <a:avLst/>
          </a:prstGeom>
          <a:noFill/>
        </p:spPr>
        <p:txBody>
          <a:bodyPr wrap="none" rtlCol="0">
            <a:spAutoFit/>
          </a:bodyPr>
          <a:lstStyle/>
          <a:p>
            <a:pPr>
              <a:spcAft>
                <a:spcPts val="600"/>
              </a:spcAft>
            </a:pPr>
            <a:r>
              <a:rPr lang="en-US" dirty="0"/>
              <a:t>Why YTD Data?</a:t>
            </a:r>
          </a:p>
          <a:p>
            <a:pPr marL="285750" indent="-285750">
              <a:spcAft>
                <a:spcPts val="600"/>
              </a:spcAft>
              <a:buFont typeface="Arial" panose="020B0604020202020204" pitchFamily="34" charset="0"/>
              <a:buChar char="•"/>
            </a:pPr>
            <a:r>
              <a:rPr lang="en-US" dirty="0"/>
              <a:t>Provides standardized annual-level summaries suitable for clustering.</a:t>
            </a:r>
          </a:p>
        </p:txBody>
      </p:sp>
      <p:graphicFrame>
        <p:nvGraphicFramePr>
          <p:cNvPr id="26" name="TextBox 5">
            <a:extLst>
              <a:ext uri="{FF2B5EF4-FFF2-40B4-BE49-F238E27FC236}">
                <a16:creationId xmlns:a16="http://schemas.microsoft.com/office/drawing/2014/main" id="{BB55397D-DA83-C9D4-1FC6-2C948BFABA02}"/>
              </a:ext>
            </a:extLst>
          </p:cNvPr>
          <p:cNvGraphicFramePr/>
          <p:nvPr>
            <p:extLst>
              <p:ext uri="{D42A27DB-BD31-4B8C-83A1-F6EECF244321}">
                <p14:modId xmlns:p14="http://schemas.microsoft.com/office/powerpoint/2010/main" val="58511685"/>
              </p:ext>
            </p:extLst>
          </p:nvPr>
        </p:nvGraphicFramePr>
        <p:xfrm>
          <a:off x="4871419" y="1491527"/>
          <a:ext cx="6506153" cy="313533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37" name="Audio 36">
            <a:extLst>
              <a:ext uri="{FF2B5EF4-FFF2-40B4-BE49-F238E27FC236}">
                <a16:creationId xmlns:a16="http://schemas.microsoft.com/office/drawing/2014/main" id="{025A4227-8D3B-8DA5-0456-30F4D02EE83C}"/>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736081174"/>
      </p:ext>
    </p:extLst>
  </p:cSld>
  <p:clrMapOvr>
    <a:masterClrMapping/>
  </p:clrMapOvr>
  <mc:AlternateContent xmlns:mc="http://schemas.openxmlformats.org/markup-compatibility/2006">
    <mc:Choice xmlns:p14="http://schemas.microsoft.com/office/powerpoint/2010/main" Requires="p14">
      <p:transition spd="slow" p14:dur="2000" advTm="36080"/>
    </mc:Choice>
    <mc:Fallback>
      <p:transition spd="slow" advTm="360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7"/>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63618578-92FC-75CF-CF67-EC624AA40962}"/>
              </a:ext>
            </a:extLst>
          </p:cNvPr>
          <p:cNvSpPr txBox="1"/>
          <p:nvPr/>
        </p:nvSpPr>
        <p:spPr>
          <a:xfrm>
            <a:off x="7131775" y="122482"/>
            <a:ext cx="4941419" cy="1330839"/>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dirty="0">
                <a:latin typeface="+mj-lt"/>
                <a:ea typeface="+mj-ea"/>
                <a:cs typeface="+mj-cs"/>
              </a:rPr>
              <a:t>Data Cleaning and Preparation</a:t>
            </a:r>
          </a:p>
        </p:txBody>
      </p:sp>
      <p:pic>
        <p:nvPicPr>
          <p:cNvPr id="6" name="Picture 5" descr="Programming data on computer monitor">
            <a:extLst>
              <a:ext uri="{FF2B5EF4-FFF2-40B4-BE49-F238E27FC236}">
                <a16:creationId xmlns:a16="http://schemas.microsoft.com/office/drawing/2014/main" id="{1774BCE0-3A03-B0CD-38C3-048C7DA50A6F}"/>
              </a:ext>
            </a:extLst>
          </p:cNvPr>
          <p:cNvPicPr>
            <a:picLocks noChangeAspect="1"/>
          </p:cNvPicPr>
          <p:nvPr/>
        </p:nvPicPr>
        <p:blipFill>
          <a:blip r:embed="rId5"/>
          <a:srcRect l="21384" r="11439" b="-1"/>
          <a:stretch>
            <a:fillRect/>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graphicFrame>
        <p:nvGraphicFramePr>
          <p:cNvPr id="7" name="Diagram 6">
            <a:extLst>
              <a:ext uri="{FF2B5EF4-FFF2-40B4-BE49-F238E27FC236}">
                <a16:creationId xmlns:a16="http://schemas.microsoft.com/office/drawing/2014/main" id="{2631EFFB-5047-EED1-2729-123BE24D9B1B}"/>
              </a:ext>
            </a:extLst>
          </p:cNvPr>
          <p:cNvGraphicFramePr/>
          <p:nvPr>
            <p:extLst>
              <p:ext uri="{D42A27DB-BD31-4B8C-83A1-F6EECF244321}">
                <p14:modId xmlns:p14="http://schemas.microsoft.com/office/powerpoint/2010/main" val="203502520"/>
              </p:ext>
            </p:extLst>
          </p:nvPr>
        </p:nvGraphicFramePr>
        <p:xfrm>
          <a:off x="7131776" y="2046957"/>
          <a:ext cx="4681852" cy="368828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TextBox 3">
            <a:extLst>
              <a:ext uri="{FF2B5EF4-FFF2-40B4-BE49-F238E27FC236}">
                <a16:creationId xmlns:a16="http://schemas.microsoft.com/office/drawing/2014/main" id="{5FFCA8AE-20AC-B112-9554-809158D25BC5}"/>
              </a:ext>
            </a:extLst>
          </p:cNvPr>
          <p:cNvSpPr txBox="1"/>
          <p:nvPr/>
        </p:nvSpPr>
        <p:spPr>
          <a:xfrm>
            <a:off x="6901731" y="5721327"/>
            <a:ext cx="4941419" cy="1092607"/>
          </a:xfrm>
          <a:prstGeom prst="rect">
            <a:avLst/>
          </a:prstGeom>
          <a:noFill/>
        </p:spPr>
        <p:txBody>
          <a:bodyPr wrap="square" rtlCol="0">
            <a:spAutoFit/>
          </a:bodyPr>
          <a:lstStyle/>
          <a:p>
            <a:pPr>
              <a:spcAft>
                <a:spcPts val="600"/>
              </a:spcAft>
            </a:pPr>
            <a:r>
              <a:rPr lang="en-US" sz="2400" b="1" dirty="0"/>
              <a:t>Outcome:</a:t>
            </a:r>
          </a:p>
          <a:p>
            <a:pPr>
              <a:spcAft>
                <a:spcPts val="600"/>
              </a:spcAft>
            </a:pPr>
            <a:r>
              <a:rPr lang="en-US" dirty="0"/>
              <a:t>Clean, standardized dataset ready for k-means analysis.</a:t>
            </a:r>
          </a:p>
        </p:txBody>
      </p:sp>
      <p:sp>
        <p:nvSpPr>
          <p:cNvPr id="8" name="TextBox 7">
            <a:extLst>
              <a:ext uri="{FF2B5EF4-FFF2-40B4-BE49-F238E27FC236}">
                <a16:creationId xmlns:a16="http://schemas.microsoft.com/office/drawing/2014/main" id="{1B34130F-DC66-CD64-4CC0-061ECF26A47E}"/>
              </a:ext>
            </a:extLst>
          </p:cNvPr>
          <p:cNvSpPr txBox="1"/>
          <p:nvPr/>
        </p:nvSpPr>
        <p:spPr>
          <a:xfrm>
            <a:off x="7044778" y="1645367"/>
            <a:ext cx="1953612" cy="461665"/>
          </a:xfrm>
          <a:prstGeom prst="rect">
            <a:avLst/>
          </a:prstGeom>
          <a:noFill/>
        </p:spPr>
        <p:txBody>
          <a:bodyPr wrap="none" rtlCol="0">
            <a:spAutoFit/>
          </a:bodyPr>
          <a:lstStyle/>
          <a:p>
            <a:r>
              <a:rPr lang="en-US" sz="2400" b="1" dirty="0"/>
              <a:t>Steps Taken:</a:t>
            </a:r>
          </a:p>
        </p:txBody>
      </p:sp>
      <p:pic>
        <p:nvPicPr>
          <p:cNvPr id="40" name="Audio 39">
            <a:extLst>
              <a:ext uri="{FF2B5EF4-FFF2-40B4-BE49-F238E27FC236}">
                <a16:creationId xmlns:a16="http://schemas.microsoft.com/office/drawing/2014/main" id="{5F4CD514-6B69-E5B6-9826-9A6E7662F858}"/>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58029224"/>
      </p:ext>
    </p:extLst>
  </p:cSld>
  <p:clrMapOvr>
    <a:masterClrMapping/>
  </p:clrMapOvr>
  <mc:AlternateContent xmlns:mc="http://schemas.openxmlformats.org/markup-compatibility/2006">
    <mc:Choice xmlns:p14="http://schemas.microsoft.com/office/powerpoint/2010/main" Requires="p14">
      <p:transition spd="slow" p14:dur="2000" advTm="42257"/>
    </mc:Choice>
    <mc:Fallback>
      <p:transition spd="slow" advTm="422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0"/>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FFE409-298C-818A-BB69-CA725FF01F8B}"/>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61C06F1E-EC2C-581D-3535-B54EE988C4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close-up of several blue lines&#10;&#10;AI-generated content may be incorrect.">
            <a:extLst>
              <a:ext uri="{FF2B5EF4-FFF2-40B4-BE49-F238E27FC236}">
                <a16:creationId xmlns:a16="http://schemas.microsoft.com/office/drawing/2014/main" id="{D1BED215-A44F-F96F-A61C-5E5DAE198A02}"/>
              </a:ext>
            </a:extLst>
          </p:cNvPr>
          <p:cNvPicPr>
            <a:picLocks noChangeAspect="1"/>
          </p:cNvPicPr>
          <p:nvPr/>
        </p:nvPicPr>
        <p:blipFill>
          <a:blip r:embed="rId5">
            <a:alphaModFix amt="35000"/>
          </a:blip>
          <a:srcRect t="6565" b="9165"/>
          <a:stretch>
            <a:fillRect/>
          </a:stretch>
        </p:blipFill>
        <p:spPr>
          <a:xfrm>
            <a:off x="20" y="10"/>
            <a:ext cx="12191980" cy="6857990"/>
          </a:xfrm>
          <a:prstGeom prst="rect">
            <a:avLst/>
          </a:prstGeom>
        </p:spPr>
      </p:pic>
      <p:sp>
        <p:nvSpPr>
          <p:cNvPr id="4" name="TextBox 3">
            <a:extLst>
              <a:ext uri="{FF2B5EF4-FFF2-40B4-BE49-F238E27FC236}">
                <a16:creationId xmlns:a16="http://schemas.microsoft.com/office/drawing/2014/main" id="{F000B78D-DB52-FD31-D465-651C0B1563EE}"/>
              </a:ext>
            </a:extLst>
          </p:cNvPr>
          <p:cNvSpPr txBox="1"/>
          <p:nvPr/>
        </p:nvSpPr>
        <p:spPr>
          <a:xfrm>
            <a:off x="838200" y="365125"/>
            <a:ext cx="10515600" cy="1325563"/>
          </a:xfrm>
          <a:prstGeom prst="rect">
            <a:avLst/>
          </a:prstGeom>
        </p:spPr>
        <p:txBody>
          <a:bodyPr vert="horz" lIns="91440" tIns="45720" rIns="91440" bIns="45720" rtlCol="0" anchor="ctr">
            <a:normAutofit/>
          </a:bodyPr>
          <a:lstStyle/>
          <a:p>
            <a:r>
              <a:rPr lang="en-US" sz="4400" dirty="0"/>
              <a:t>Problem Statement</a:t>
            </a:r>
          </a:p>
        </p:txBody>
      </p:sp>
      <p:graphicFrame>
        <p:nvGraphicFramePr>
          <p:cNvPr id="16" name="TextBox 4">
            <a:extLst>
              <a:ext uri="{FF2B5EF4-FFF2-40B4-BE49-F238E27FC236}">
                <a16:creationId xmlns:a16="http://schemas.microsoft.com/office/drawing/2014/main" id="{130716D4-9FA2-774C-404A-5582691FCC05}"/>
              </a:ext>
            </a:extLst>
          </p:cNvPr>
          <p:cNvGraphicFramePr/>
          <p:nvPr>
            <p:extLst>
              <p:ext uri="{D42A27DB-BD31-4B8C-83A1-F6EECF244321}">
                <p14:modId xmlns:p14="http://schemas.microsoft.com/office/powerpoint/2010/main" val="3929452731"/>
              </p:ext>
            </p:extLst>
          </p:nvPr>
        </p:nvGraphicFramePr>
        <p:xfrm>
          <a:off x="838200" y="2055803"/>
          <a:ext cx="10515600" cy="412116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5" name="Audio 4">
            <a:extLst>
              <a:ext uri="{FF2B5EF4-FFF2-40B4-BE49-F238E27FC236}">
                <a16:creationId xmlns:a16="http://schemas.microsoft.com/office/drawing/2014/main" id="{38FC85C3-906F-9A80-6886-81BE1ED7B109}"/>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4864061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30123"/>
    </mc:Choice>
    <mc:Fallback>
      <p:transition spd="slow" advTm="301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AF22592-DA8E-464D-2A7F-28B375E3E2A6}"/>
              </a:ext>
            </a:extLst>
          </p:cNvPr>
          <p:cNvSpPr txBox="1"/>
          <p:nvPr/>
        </p:nvSpPr>
        <p:spPr>
          <a:xfrm>
            <a:off x="368860" y="116904"/>
            <a:ext cx="5950377" cy="69943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kern="1200" dirty="0">
                <a:solidFill>
                  <a:schemeClr val="tx1"/>
                </a:solidFill>
                <a:latin typeface="+mj-lt"/>
                <a:ea typeface="+mj-ea"/>
                <a:cs typeface="+mj-cs"/>
              </a:rPr>
              <a:t>Method: K Means Clustering</a:t>
            </a:r>
          </a:p>
        </p:txBody>
      </p:sp>
      <p:pic>
        <p:nvPicPr>
          <p:cNvPr id="10" name="Graphic 9" descr="Variable">
            <a:extLst>
              <a:ext uri="{FF2B5EF4-FFF2-40B4-BE49-F238E27FC236}">
                <a16:creationId xmlns:a16="http://schemas.microsoft.com/office/drawing/2014/main" id="{46FAD779-FBB9-05AA-23C7-91462F226B8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1621" y="1344240"/>
            <a:ext cx="1198532" cy="1198532"/>
          </a:xfrm>
          <a:prstGeom prst="rect">
            <a:avLst/>
          </a:prstGeom>
        </p:spPr>
      </p:pic>
      <p:sp>
        <p:nvSpPr>
          <p:cNvPr id="3" name="Rectangle 1">
            <a:extLst>
              <a:ext uri="{FF2B5EF4-FFF2-40B4-BE49-F238E27FC236}">
                <a16:creationId xmlns:a16="http://schemas.microsoft.com/office/drawing/2014/main" id="{7594B23D-DD87-5646-6D50-1C458C507144}"/>
              </a:ext>
            </a:extLst>
          </p:cNvPr>
          <p:cNvSpPr>
            <a:spLocks noChangeArrowheads="1"/>
          </p:cNvSpPr>
          <p:nvPr/>
        </p:nvSpPr>
        <p:spPr bwMode="auto">
          <a:xfrm>
            <a:off x="180148" y="3877964"/>
            <a:ext cx="6851272" cy="100979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fontScale="92500" lnSpcReduction="10000"/>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ct val="0"/>
              </a:spcBef>
              <a:spcAft>
                <a:spcPts val="600"/>
              </a:spcAft>
              <a:buClrTx/>
              <a:buSzTx/>
              <a:tabLst/>
            </a:pPr>
            <a:r>
              <a:rPr kumimoji="0" lang="en-US" altLang="en-US" sz="2600" b="1" i="0" u="none" strike="noStrike" cap="none" normalizeH="0" baseline="0" dirty="0">
                <a:ln>
                  <a:noFill/>
                </a:ln>
                <a:effectLst/>
                <a:latin typeface="+mn-lt"/>
              </a:rPr>
              <a:t>Why K-Means:</a:t>
            </a:r>
            <a:br>
              <a:rPr kumimoji="0" lang="en-US" altLang="en-US" sz="2600" b="0" i="0" u="none" strike="noStrike" cap="none" normalizeH="0" baseline="0" dirty="0">
                <a:ln>
                  <a:noFill/>
                </a:ln>
                <a:effectLst/>
                <a:latin typeface="+mn-lt"/>
              </a:rPr>
            </a:br>
            <a:r>
              <a:rPr kumimoji="0" lang="en-US" altLang="en-US" sz="2400" b="0" i="0" u="none" strike="noStrike" cap="none" normalizeH="0" baseline="0" dirty="0">
                <a:ln>
                  <a:noFill/>
                </a:ln>
                <a:effectLst/>
                <a:latin typeface="+mn-lt"/>
              </a:rPr>
              <a:t>• Effective for grouping similar observations</a:t>
            </a:r>
            <a:br>
              <a:rPr kumimoji="0" lang="en-US" altLang="en-US" sz="2400" b="0" i="0" u="none" strike="noStrike" cap="none" normalizeH="0" baseline="0" dirty="0">
                <a:ln>
                  <a:noFill/>
                </a:ln>
                <a:effectLst/>
                <a:latin typeface="+mn-lt"/>
              </a:rPr>
            </a:br>
            <a:r>
              <a:rPr kumimoji="0" lang="en-US" altLang="en-US" sz="2400" b="0" i="0" u="none" strike="noStrike" cap="none" normalizeH="0" baseline="0" dirty="0">
                <a:ln>
                  <a:noFill/>
                </a:ln>
                <a:effectLst/>
                <a:latin typeface="+mn-lt"/>
              </a:rPr>
              <a:t>• Interpretable and suitable for numeric energy data</a:t>
            </a:r>
          </a:p>
          <a:p>
            <a:pPr marL="0" marR="0" lvl="0" indent="-228600" eaLnBrk="1" fontAlgn="base" hangingPunct="1">
              <a:lnSpc>
                <a:spcPct val="90000"/>
              </a:lnSpc>
              <a:spcBef>
                <a:spcPct val="0"/>
              </a:spcBef>
              <a:spcAft>
                <a:spcPts val="600"/>
              </a:spcAft>
              <a:buClrTx/>
              <a:buSzTx/>
              <a:buFont typeface="Arial" panose="020B0604020202020204" pitchFamily="34" charset="0"/>
              <a:buChar char="•"/>
              <a:tabLst/>
            </a:pPr>
            <a:endParaRPr kumimoji="0" lang="en-US" altLang="en-US" sz="2400" b="0" i="0" u="none" strike="noStrike" cap="none" normalizeH="0" baseline="0" dirty="0">
              <a:ln>
                <a:noFill/>
              </a:ln>
              <a:effectLst/>
              <a:latin typeface="+mn-lt"/>
            </a:endParaRPr>
          </a:p>
        </p:txBody>
      </p:sp>
      <p:pic>
        <p:nvPicPr>
          <p:cNvPr id="12" name="Graphic 11" descr="Variable">
            <a:extLst>
              <a:ext uri="{FF2B5EF4-FFF2-40B4-BE49-F238E27FC236}">
                <a16:creationId xmlns:a16="http://schemas.microsoft.com/office/drawing/2014/main" id="{D730EC5F-4C49-4EA9-B265-6B759467857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7">
            <a:alphaModFix amt="15000"/>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41431" y="816337"/>
            <a:ext cx="5225327" cy="5225327"/>
          </a:xfrm>
          <a:prstGeom prst="rect">
            <a:avLst/>
          </a:prstGeom>
        </p:spPr>
      </p:pic>
      <p:sp>
        <p:nvSpPr>
          <p:cNvPr id="5" name="Rectangle 2">
            <a:extLst>
              <a:ext uri="{FF2B5EF4-FFF2-40B4-BE49-F238E27FC236}">
                <a16:creationId xmlns:a16="http://schemas.microsoft.com/office/drawing/2014/main" id="{A180E9D4-1048-4698-1485-826EC88BBDE9}"/>
              </a:ext>
            </a:extLst>
          </p:cNvPr>
          <p:cNvSpPr>
            <a:spLocks noChangeArrowheads="1"/>
          </p:cNvSpPr>
          <p:nvPr/>
        </p:nvSpPr>
        <p:spPr bwMode="auto">
          <a:xfrm>
            <a:off x="2022347" y="1253804"/>
            <a:ext cx="561252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spcBef>
                <a:spcPct val="0"/>
              </a:spcBef>
              <a:spcAft>
                <a:spcPts val="600"/>
              </a:spcAft>
              <a:buClrTx/>
              <a:buSzTx/>
              <a:buFontTx/>
              <a:buNone/>
              <a:tabLst/>
            </a:pPr>
            <a:r>
              <a:rPr kumimoji="0" lang="en-US" altLang="en-US" b="1" i="0" u="none" strike="noStrike" cap="none" normalizeH="0" baseline="0" dirty="0">
                <a:ln>
                  <a:noFill/>
                </a:ln>
                <a:solidFill>
                  <a:srgbClr val="000000"/>
                </a:solidFill>
                <a:effectLst/>
                <a:latin typeface="Arial" panose="020B0604020202020204" pitchFamily="34" charset="0"/>
              </a:rPr>
              <a:t>Variables Used:</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rgbClr val="000000"/>
                </a:solidFill>
                <a:effectLst/>
                <a:latin typeface="-webkit-standard"/>
              </a:rPr>
              <a:t>• Total fuel consumption</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rgbClr val="000000"/>
                </a:solidFill>
                <a:effectLst/>
                <a:latin typeface="-webkit-standard"/>
              </a:rPr>
              <a:t>• Electric fuel consumption</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rgbClr val="000000"/>
                </a:solidFill>
                <a:effectLst/>
                <a:latin typeface="-webkit-standard"/>
              </a:rPr>
              <a:t>• Energy content in MMBtu</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rgbClr val="000000"/>
                </a:solidFill>
                <a:effectLst/>
                <a:latin typeface="-webkit-standard"/>
              </a:rPr>
              <a:t>• Net generation in megawatt-hours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52DADCC-F9A8-81B9-2451-DCF44BC94DE7}"/>
              </a:ext>
            </a:extLst>
          </p:cNvPr>
          <p:cNvSpPr txBox="1"/>
          <p:nvPr/>
        </p:nvSpPr>
        <p:spPr>
          <a:xfrm>
            <a:off x="180148" y="5648133"/>
            <a:ext cx="6704129" cy="830997"/>
          </a:xfrm>
          <a:prstGeom prst="rect">
            <a:avLst/>
          </a:prstGeom>
          <a:noFill/>
        </p:spPr>
        <p:txBody>
          <a:bodyPr wrap="square" rtlCol="0">
            <a:spAutoFit/>
          </a:bodyPr>
          <a:lstStyle/>
          <a:p>
            <a:pPr>
              <a:spcAft>
                <a:spcPts val="600"/>
              </a:spcAft>
            </a:pPr>
            <a:r>
              <a:rPr lang="en-US" sz="2400" b="1" dirty="0"/>
              <a:t>Preprocessing:</a:t>
            </a:r>
            <a:br>
              <a:rPr lang="en-US" sz="2400" dirty="0"/>
            </a:br>
            <a:r>
              <a:rPr lang="en-US" sz="2400" dirty="0"/>
              <a:t>All variables standardized to ensure equal weight.</a:t>
            </a:r>
          </a:p>
        </p:txBody>
      </p:sp>
      <p:pic>
        <p:nvPicPr>
          <p:cNvPr id="20" name="Audio 19">
            <a:extLst>
              <a:ext uri="{FF2B5EF4-FFF2-40B4-BE49-F238E27FC236}">
                <a16:creationId xmlns:a16="http://schemas.microsoft.com/office/drawing/2014/main" id="{C6B29D6C-E069-C30D-1856-9CA215DDCA5B}"/>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76996647"/>
      </p:ext>
    </p:extLst>
  </p:cSld>
  <p:clrMapOvr>
    <a:masterClrMapping/>
  </p:clrMapOvr>
  <mc:AlternateContent xmlns:mc="http://schemas.openxmlformats.org/markup-compatibility/2006">
    <mc:Choice xmlns:p14="http://schemas.microsoft.com/office/powerpoint/2010/main" Requires="p14">
      <p:transition spd="slow" p14:dur="2000" advTm="37540"/>
    </mc:Choice>
    <mc:Fallback>
      <p:transition spd="slow" advTm="37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81F5486-5C63-ED8A-1617-D699FB12F37A}"/>
              </a:ext>
            </a:extLst>
          </p:cNvPr>
          <p:cNvSpPr txBox="1"/>
          <p:nvPr/>
        </p:nvSpPr>
        <p:spPr>
          <a:xfrm>
            <a:off x="262759" y="434719"/>
            <a:ext cx="4529841" cy="179212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6600" b="1" kern="1200" dirty="0">
                <a:solidFill>
                  <a:schemeClr val="tx1"/>
                </a:solidFill>
                <a:latin typeface="+mj-lt"/>
                <a:ea typeface="+mj-ea"/>
                <a:cs typeface="+mj-cs"/>
              </a:rPr>
              <a:t>Choosing K: </a:t>
            </a:r>
            <a:br>
              <a:rPr lang="en-US" sz="6600" kern="1200" dirty="0">
                <a:solidFill>
                  <a:schemeClr val="tx1"/>
                </a:solidFill>
                <a:latin typeface="+mj-lt"/>
                <a:ea typeface="+mj-ea"/>
                <a:cs typeface="+mj-cs"/>
              </a:rPr>
            </a:br>
            <a:r>
              <a:rPr lang="en-US" sz="5400" kern="1200" dirty="0">
                <a:solidFill>
                  <a:schemeClr val="tx1"/>
                </a:solidFill>
                <a:latin typeface="+mj-lt"/>
                <a:ea typeface="+mj-ea"/>
                <a:cs typeface="+mj-cs"/>
              </a:rPr>
              <a:t>Elbow Method</a:t>
            </a:r>
            <a:endParaRPr lang="en-US" sz="6600" kern="1200" dirty="0">
              <a:solidFill>
                <a:schemeClr val="tx1"/>
              </a:solidFill>
              <a:latin typeface="+mj-lt"/>
              <a:ea typeface="+mj-ea"/>
              <a:cs typeface="+mj-cs"/>
            </a:endParaRPr>
          </a:p>
        </p:txBody>
      </p:sp>
      <p:sp>
        <p:nvSpPr>
          <p:cNvPr id="5" name="Rectangle 1">
            <a:extLst>
              <a:ext uri="{FF2B5EF4-FFF2-40B4-BE49-F238E27FC236}">
                <a16:creationId xmlns:a16="http://schemas.microsoft.com/office/drawing/2014/main" id="{0E0C4FA4-2C17-3D78-8180-1B977A4D15BC}"/>
              </a:ext>
            </a:extLst>
          </p:cNvPr>
          <p:cNvSpPr>
            <a:spLocks noChangeArrowheads="1"/>
          </p:cNvSpPr>
          <p:nvPr/>
        </p:nvSpPr>
        <p:spPr bwMode="auto">
          <a:xfrm>
            <a:off x="638882" y="4631161"/>
            <a:ext cx="3571810" cy="15593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ts val="1000"/>
              </a:spcBef>
              <a:spcAft>
                <a:spcPct val="0"/>
              </a:spcAft>
              <a:buClrTx/>
              <a:buSzTx/>
              <a:tabLst/>
            </a:pPr>
            <a:r>
              <a:rPr kumimoji="0" lang="en-US" altLang="en-US" sz="2000" b="1" i="0" u="none" strike="noStrike" kern="1200" cap="none" normalizeH="0" baseline="0">
                <a:ln>
                  <a:noFill/>
                </a:ln>
                <a:solidFill>
                  <a:schemeClr val="tx1"/>
                </a:solidFill>
                <a:effectLst/>
                <a:latin typeface="+mn-lt"/>
                <a:ea typeface="+mn-ea"/>
                <a:cs typeface="+mn-cs"/>
              </a:rPr>
              <a:t>Finding:</a:t>
            </a:r>
            <a:br>
              <a:rPr kumimoji="0" lang="en-US" altLang="en-US" sz="2000" b="0" i="0" u="none" strike="noStrike" kern="1200" cap="none" normalizeH="0" baseline="0">
                <a:ln>
                  <a:noFill/>
                </a:ln>
                <a:solidFill>
                  <a:schemeClr val="tx1"/>
                </a:solidFill>
                <a:effectLst/>
                <a:latin typeface="+mn-lt"/>
                <a:ea typeface="+mn-ea"/>
                <a:cs typeface="+mn-cs"/>
              </a:rPr>
            </a:br>
            <a:r>
              <a:rPr kumimoji="0" lang="en-US" altLang="en-US" sz="2000" b="0" i="0" u="none" strike="noStrike" kern="1200" cap="none" normalizeH="0" baseline="0">
                <a:ln>
                  <a:noFill/>
                </a:ln>
                <a:solidFill>
                  <a:schemeClr val="tx1"/>
                </a:solidFill>
                <a:effectLst/>
                <a:latin typeface="+mn-lt"/>
                <a:ea typeface="+mn-ea"/>
                <a:cs typeface="+mn-cs"/>
              </a:rPr>
              <a:t>Most pronounced bend appears at </a:t>
            </a:r>
            <a:r>
              <a:rPr kumimoji="0" lang="en-US" altLang="en-US" sz="2000" b="1" i="0" u="none" strike="noStrike" kern="1200" cap="none" normalizeH="0" baseline="0">
                <a:ln>
                  <a:noFill/>
                </a:ln>
                <a:solidFill>
                  <a:schemeClr val="tx1"/>
                </a:solidFill>
                <a:effectLst/>
                <a:latin typeface="+mn-lt"/>
                <a:ea typeface="+mn-ea"/>
                <a:cs typeface="+mn-cs"/>
              </a:rPr>
              <a:t>K = 3</a:t>
            </a:r>
            <a:r>
              <a:rPr kumimoji="0" lang="en-US" altLang="en-US" sz="2000" b="0" i="0" u="none" strike="noStrike" kern="1200" cap="none" normalizeH="0" baseline="0">
                <a:ln>
                  <a:noFill/>
                </a:ln>
                <a:solidFill>
                  <a:schemeClr val="tx1"/>
                </a:solidFill>
                <a:effectLst/>
                <a:latin typeface="+mn-lt"/>
                <a:ea typeface="+mn-ea"/>
                <a:cs typeface="+mn-cs"/>
              </a:rPr>
              <a:t>, indicating diminishing returns beyond that point.</a:t>
            </a:r>
          </a:p>
        </p:txBody>
      </p:sp>
      <p:sp>
        <p:nvSpPr>
          <p:cNvPr id="3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a:extLst>
              <a:ext uri="{FF2B5EF4-FFF2-40B4-BE49-F238E27FC236}">
                <a16:creationId xmlns:a16="http://schemas.microsoft.com/office/drawing/2014/main" id="{7E4701D4-28C5-60BD-0906-DDD66082676A}"/>
              </a:ext>
            </a:extLst>
          </p:cNvPr>
          <p:cNvPicPr/>
          <p:nvPr/>
        </p:nvPicPr>
        <p:blipFill>
          <a:blip r:embed="rId5"/>
          <a:stretch>
            <a:fillRect/>
          </a:stretch>
        </p:blipFill>
        <p:spPr bwMode="auto">
          <a:xfrm>
            <a:off x="4792600" y="640080"/>
            <a:ext cx="6938008" cy="5550408"/>
          </a:xfrm>
          <a:prstGeom prst="rect">
            <a:avLst/>
          </a:prstGeom>
          <a:noFill/>
        </p:spPr>
      </p:pic>
      <p:pic>
        <p:nvPicPr>
          <p:cNvPr id="19" name="Audio 18">
            <a:extLst>
              <a:ext uri="{FF2B5EF4-FFF2-40B4-BE49-F238E27FC236}">
                <a16:creationId xmlns:a16="http://schemas.microsoft.com/office/drawing/2014/main" id="{AB914E0D-9523-552E-F849-65B1BFE913D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49800152"/>
      </p:ext>
    </p:extLst>
  </p:cSld>
  <p:clrMapOvr>
    <a:masterClrMapping/>
  </p:clrMapOvr>
  <mc:AlternateContent xmlns:mc="http://schemas.openxmlformats.org/markup-compatibility/2006">
    <mc:Choice xmlns:p14="http://schemas.microsoft.com/office/powerpoint/2010/main" Requires="p14">
      <p:transition spd="slow" p14:dur="2000" advTm="23107"/>
    </mc:Choice>
    <mc:Fallback>
      <p:transition spd="slow" advTm="231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61B5DD-E35D-7625-FDD0-DED2EEE05A2E}"/>
            </a:ext>
          </a:extLst>
        </p:cNvPr>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0BD7A29-F876-094D-AC93-8FA7F197F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7C4B234-AF35-694A-7F2E-192040C378C1}"/>
              </a:ext>
            </a:extLst>
          </p:cNvPr>
          <p:cNvSpPr txBox="1"/>
          <p:nvPr/>
        </p:nvSpPr>
        <p:spPr>
          <a:xfrm>
            <a:off x="262759" y="434719"/>
            <a:ext cx="4529841" cy="1792120"/>
          </a:xfrm>
          <a:prstGeom prst="rect">
            <a:avLst/>
          </a:prstGeom>
        </p:spPr>
        <p:txBody>
          <a:bodyPr vert="horz" lIns="91440" tIns="45720" rIns="91440" bIns="45720" rtlCol="0" anchor="b">
            <a:normAutofit fontScale="85000" lnSpcReduction="10000"/>
          </a:bodyPr>
          <a:lstStyle/>
          <a:p>
            <a:pPr>
              <a:lnSpc>
                <a:spcPct val="90000"/>
              </a:lnSpc>
              <a:spcBef>
                <a:spcPct val="0"/>
              </a:spcBef>
              <a:spcAft>
                <a:spcPts val="600"/>
              </a:spcAft>
            </a:pPr>
            <a:r>
              <a:rPr lang="en-US" sz="6600" b="1" kern="1200" dirty="0">
                <a:solidFill>
                  <a:schemeClr val="tx1"/>
                </a:solidFill>
                <a:latin typeface="+mj-lt"/>
                <a:ea typeface="+mj-ea"/>
                <a:cs typeface="+mj-cs"/>
              </a:rPr>
              <a:t>Choosing K: </a:t>
            </a:r>
            <a:br>
              <a:rPr lang="en-US" sz="6600" kern="1200" dirty="0">
                <a:solidFill>
                  <a:schemeClr val="tx1"/>
                </a:solidFill>
                <a:latin typeface="+mj-lt"/>
                <a:ea typeface="+mj-ea"/>
                <a:cs typeface="+mj-cs"/>
              </a:rPr>
            </a:br>
            <a:r>
              <a:rPr lang="en-US" sz="5400" kern="1200" dirty="0">
                <a:solidFill>
                  <a:schemeClr val="tx1"/>
                </a:solidFill>
                <a:latin typeface="+mj-lt"/>
                <a:ea typeface="+mj-ea"/>
                <a:cs typeface="+mj-cs"/>
              </a:rPr>
              <a:t>Silhouette Method</a:t>
            </a:r>
            <a:endParaRPr lang="en-US" sz="6600" kern="1200" dirty="0">
              <a:solidFill>
                <a:schemeClr val="tx1"/>
              </a:solidFill>
              <a:latin typeface="+mj-lt"/>
              <a:ea typeface="+mj-ea"/>
              <a:cs typeface="+mj-cs"/>
            </a:endParaRPr>
          </a:p>
        </p:txBody>
      </p:sp>
      <p:sp>
        <p:nvSpPr>
          <p:cNvPr id="5" name="Rectangle 1">
            <a:extLst>
              <a:ext uri="{FF2B5EF4-FFF2-40B4-BE49-F238E27FC236}">
                <a16:creationId xmlns:a16="http://schemas.microsoft.com/office/drawing/2014/main" id="{B60A532E-865B-773B-0981-B33F0FA7E9CF}"/>
              </a:ext>
            </a:extLst>
          </p:cNvPr>
          <p:cNvSpPr>
            <a:spLocks noChangeArrowheads="1"/>
          </p:cNvSpPr>
          <p:nvPr/>
        </p:nvSpPr>
        <p:spPr bwMode="auto">
          <a:xfrm>
            <a:off x="638882" y="4631161"/>
            <a:ext cx="3571810" cy="15593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eaLnBrk="1" fontAlgn="base" hangingPunct="1">
              <a:lnSpc>
                <a:spcPct val="90000"/>
              </a:lnSpc>
              <a:spcBef>
                <a:spcPts val="1000"/>
              </a:spcBef>
              <a:spcAft>
                <a:spcPct val="0"/>
              </a:spcAft>
              <a:buClrTx/>
              <a:buSzTx/>
              <a:tabLst/>
            </a:pPr>
            <a:r>
              <a:rPr kumimoji="0" lang="en-US" altLang="en-US" sz="2000" b="1" i="0" u="none" strike="noStrike" kern="1200" cap="none" normalizeH="0" baseline="0" dirty="0">
                <a:ln>
                  <a:noFill/>
                </a:ln>
                <a:solidFill>
                  <a:schemeClr val="tx1"/>
                </a:solidFill>
                <a:effectLst/>
                <a:latin typeface="+mn-lt"/>
                <a:ea typeface="+mn-ea"/>
                <a:cs typeface="+mn-cs"/>
              </a:rPr>
              <a:t>Finding:</a:t>
            </a:r>
            <a:br>
              <a:rPr kumimoji="0" lang="en-US" altLang="en-US" sz="2000" b="0" i="0" u="none" strike="noStrike" kern="1200" cap="none" normalizeH="0" baseline="0" dirty="0">
                <a:ln>
                  <a:noFill/>
                </a:ln>
                <a:solidFill>
                  <a:schemeClr val="tx1"/>
                </a:solidFill>
                <a:effectLst/>
                <a:latin typeface="+mn-lt"/>
                <a:ea typeface="+mn-ea"/>
                <a:cs typeface="+mn-cs"/>
              </a:rPr>
            </a:br>
            <a:r>
              <a:rPr kumimoji="0" lang="en-US" altLang="en-US" sz="2000" b="0" i="0" u="none" strike="noStrike" kern="1200" cap="none" normalizeH="0" baseline="0" dirty="0">
                <a:ln>
                  <a:noFill/>
                </a:ln>
                <a:solidFill>
                  <a:schemeClr val="tx1"/>
                </a:solidFill>
                <a:effectLst/>
                <a:latin typeface="+mn-lt"/>
                <a:ea typeface="+mn-ea"/>
                <a:cs typeface="+mn-cs"/>
              </a:rPr>
              <a:t>Peak silhouette width at K = 3, confirming the elbow result.</a:t>
            </a:r>
          </a:p>
        </p:txBody>
      </p:sp>
      <p:sp>
        <p:nvSpPr>
          <p:cNvPr id="32" name="sketch line">
            <a:extLst>
              <a:ext uri="{FF2B5EF4-FFF2-40B4-BE49-F238E27FC236}">
                <a16:creationId xmlns:a16="http://schemas.microsoft.com/office/drawing/2014/main" id="{6C95C635-C4FD-CCBA-8F4F-7E5BD2208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a:extLst>
              <a:ext uri="{FF2B5EF4-FFF2-40B4-BE49-F238E27FC236}">
                <a16:creationId xmlns:a16="http://schemas.microsoft.com/office/drawing/2014/main" id="{D804EF00-C284-1AEC-40D8-821190759A2A}"/>
              </a:ext>
            </a:extLst>
          </p:cNvPr>
          <p:cNvPicPr/>
          <p:nvPr/>
        </p:nvPicPr>
        <p:blipFill>
          <a:blip r:embed="rId5"/>
          <a:stretch>
            <a:fillRect/>
          </a:stretch>
        </p:blipFill>
        <p:spPr bwMode="auto">
          <a:xfrm>
            <a:off x="5055359" y="530444"/>
            <a:ext cx="6831841" cy="5797112"/>
          </a:xfrm>
          <a:prstGeom prst="rect">
            <a:avLst/>
          </a:prstGeom>
          <a:noFill/>
          <a:ln w="9525">
            <a:noFill/>
            <a:headEnd/>
            <a:tailEnd/>
          </a:ln>
        </p:spPr>
      </p:pic>
      <p:pic>
        <p:nvPicPr>
          <p:cNvPr id="18" name="Audio 17">
            <a:extLst>
              <a:ext uri="{FF2B5EF4-FFF2-40B4-BE49-F238E27FC236}">
                <a16:creationId xmlns:a16="http://schemas.microsoft.com/office/drawing/2014/main" id="{439B014F-179D-777E-3832-2A5C276DEEF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921834405"/>
      </p:ext>
    </p:extLst>
  </p:cSld>
  <p:clrMapOvr>
    <a:masterClrMapping/>
  </p:clrMapOvr>
  <mc:AlternateContent xmlns:mc="http://schemas.openxmlformats.org/markup-compatibility/2006">
    <mc:Choice xmlns:p14="http://schemas.microsoft.com/office/powerpoint/2010/main" Requires="p14">
      <p:transition spd="slow" p14:dur="2000" advTm="21360"/>
    </mc:Choice>
    <mc:Fallback>
      <p:transition spd="slow" advTm="213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52DE37E-E343-EDF1-D4C4-FA641B278930}"/>
              </a:ext>
            </a:extLst>
          </p:cNvPr>
          <p:cNvSpPr txBox="1"/>
          <p:nvPr/>
        </p:nvSpPr>
        <p:spPr>
          <a:xfrm>
            <a:off x="0" y="2567151"/>
            <a:ext cx="4037835" cy="861848"/>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4000" kern="1200" dirty="0">
                <a:solidFill>
                  <a:srgbClr val="FFFFFF"/>
                </a:solidFill>
                <a:latin typeface="+mj-lt"/>
                <a:ea typeface="+mj-ea"/>
                <a:cs typeface="+mj-cs"/>
              </a:rPr>
              <a:t>Final Choice: K = 3</a:t>
            </a:r>
          </a:p>
        </p:txBody>
      </p:sp>
      <p:graphicFrame>
        <p:nvGraphicFramePr>
          <p:cNvPr id="5" name="Diagram 4">
            <a:extLst>
              <a:ext uri="{FF2B5EF4-FFF2-40B4-BE49-F238E27FC236}">
                <a16:creationId xmlns:a16="http://schemas.microsoft.com/office/drawing/2014/main" id="{7EEE2A58-7486-6002-5992-BB877257622A}"/>
              </a:ext>
            </a:extLst>
          </p:cNvPr>
          <p:cNvGraphicFramePr/>
          <p:nvPr>
            <p:extLst>
              <p:ext uri="{D42A27DB-BD31-4B8C-83A1-F6EECF244321}">
                <p14:modId xmlns:p14="http://schemas.microsoft.com/office/powerpoint/2010/main" val="953510543"/>
              </p:ext>
            </p:extLst>
          </p:nvPr>
        </p:nvGraphicFramePr>
        <p:xfrm>
          <a:off x="4037826" y="105102"/>
          <a:ext cx="8034294" cy="577408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F916A8DC-5E65-5496-F4DB-3AFD7CE727E2}"/>
              </a:ext>
            </a:extLst>
          </p:cNvPr>
          <p:cNvSpPr txBox="1"/>
          <p:nvPr/>
        </p:nvSpPr>
        <p:spPr>
          <a:xfrm>
            <a:off x="4756635" y="5899460"/>
            <a:ext cx="6795065" cy="830997"/>
          </a:xfrm>
          <a:prstGeom prst="rect">
            <a:avLst/>
          </a:prstGeom>
          <a:noFill/>
        </p:spPr>
        <p:txBody>
          <a:bodyPr wrap="none" rtlCol="0">
            <a:spAutoFit/>
          </a:bodyPr>
          <a:lstStyle/>
          <a:p>
            <a:pPr>
              <a:spcAft>
                <a:spcPts val="600"/>
              </a:spcAft>
            </a:pPr>
            <a:r>
              <a:rPr lang="en-US" sz="2400" b="1" dirty="0"/>
              <a:t>Justification:</a:t>
            </a:r>
            <a:br>
              <a:rPr lang="en-US" sz="2400" dirty="0"/>
            </a:br>
            <a:r>
              <a:rPr lang="en-US" sz="2400" dirty="0"/>
              <a:t>Supported by both elbow and silhouette methods.</a:t>
            </a:r>
          </a:p>
        </p:txBody>
      </p:sp>
      <p:pic>
        <p:nvPicPr>
          <p:cNvPr id="24" name="Audio 23">
            <a:extLst>
              <a:ext uri="{FF2B5EF4-FFF2-40B4-BE49-F238E27FC236}">
                <a16:creationId xmlns:a16="http://schemas.microsoft.com/office/drawing/2014/main" id="{237518E9-AD1A-413C-FE69-1A89B20629A5}"/>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108177813"/>
      </p:ext>
    </p:extLst>
  </p:cSld>
  <p:clrMapOvr>
    <a:masterClrMapping/>
  </p:clrMapOvr>
  <mc:AlternateContent xmlns:mc="http://schemas.openxmlformats.org/markup-compatibility/2006">
    <mc:Choice xmlns:p14="http://schemas.microsoft.com/office/powerpoint/2010/main" Requires="p14">
      <p:transition spd="slow" p14:dur="2000" advTm="67466"/>
    </mc:Choice>
    <mc:Fallback>
      <p:transition spd="slow" advTm="674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a:extLst>
              <a:ext uri="{FF2B5EF4-FFF2-40B4-BE49-F238E27FC236}">
                <a16:creationId xmlns:a16="http://schemas.microsoft.com/office/drawing/2014/main" id="{1C2D7D28-2148-98A4-3AE6-DD66E3D8245E}"/>
              </a:ext>
            </a:extLst>
          </p:cNvPr>
          <p:cNvPicPr/>
          <p:nvPr/>
        </p:nvPicPr>
        <p:blipFill>
          <a:blip r:embed="rId5"/>
          <a:stretch>
            <a:fillRect/>
          </a:stretch>
        </p:blipFill>
        <p:spPr bwMode="auto">
          <a:xfrm>
            <a:off x="643467" y="1311112"/>
            <a:ext cx="5294716" cy="4235773"/>
          </a:xfrm>
          <a:prstGeom prst="rect">
            <a:avLst/>
          </a:prstGeom>
          <a:noFill/>
        </p:spPr>
      </p:pic>
      <p:cxnSp>
        <p:nvCxnSpPr>
          <p:cNvPr id="16" name="Straight Connector 15">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79958" y="1143000"/>
            <a:ext cx="0" cy="4572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pic>
        <p:nvPicPr>
          <p:cNvPr id="2" name="Picture">
            <a:extLst>
              <a:ext uri="{FF2B5EF4-FFF2-40B4-BE49-F238E27FC236}">
                <a16:creationId xmlns:a16="http://schemas.microsoft.com/office/drawing/2014/main" id="{28C30E40-60A1-E7B8-6463-EE53DEE91FFA}"/>
              </a:ext>
            </a:extLst>
          </p:cNvPr>
          <p:cNvPicPr/>
          <p:nvPr/>
        </p:nvPicPr>
        <p:blipFill>
          <a:blip r:embed="rId6"/>
          <a:stretch>
            <a:fillRect/>
          </a:stretch>
        </p:blipFill>
        <p:spPr bwMode="auto">
          <a:xfrm>
            <a:off x="6253817" y="1311114"/>
            <a:ext cx="5294715" cy="4235772"/>
          </a:xfrm>
          <a:prstGeom prst="rect">
            <a:avLst/>
          </a:prstGeom>
          <a:noFill/>
        </p:spPr>
      </p:pic>
      <p:pic>
        <p:nvPicPr>
          <p:cNvPr id="13" name="Audio 12">
            <a:extLst>
              <a:ext uri="{FF2B5EF4-FFF2-40B4-BE49-F238E27FC236}">
                <a16:creationId xmlns:a16="http://schemas.microsoft.com/office/drawing/2014/main" id="{72CD74BC-A67D-DA5B-EAFD-8A45042BE721}"/>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626935325"/>
      </p:ext>
    </p:extLst>
  </p:cSld>
  <p:clrMapOvr>
    <a:masterClrMapping/>
  </p:clrMapOvr>
  <mc:AlternateContent xmlns:mc="http://schemas.openxmlformats.org/markup-compatibility/2006">
    <mc:Choice xmlns:p14="http://schemas.microsoft.com/office/powerpoint/2010/main" Requires="p14">
      <p:transition spd="slow" p14:dur="2000" advTm="56060"/>
    </mc:Choice>
    <mc:Fallback>
      <p:transition spd="slow" advTm="56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6BDD31-0A88-1646-75F2-4A69520AC14A}"/>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81156AF1-A51C-F10B-F15F-F5AB1CE36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close-up of several blue lines&#10;&#10;AI-generated content may be incorrect.">
            <a:extLst>
              <a:ext uri="{FF2B5EF4-FFF2-40B4-BE49-F238E27FC236}">
                <a16:creationId xmlns:a16="http://schemas.microsoft.com/office/drawing/2014/main" id="{86AFADD4-0D24-734B-71D4-2B31F042491C}"/>
              </a:ext>
            </a:extLst>
          </p:cNvPr>
          <p:cNvPicPr>
            <a:picLocks noChangeAspect="1"/>
          </p:cNvPicPr>
          <p:nvPr/>
        </p:nvPicPr>
        <p:blipFill>
          <a:blip r:embed="rId5">
            <a:alphaModFix amt="35000"/>
          </a:blip>
          <a:srcRect t="6565" b="9165"/>
          <a:stretch>
            <a:fillRect/>
          </a:stretch>
        </p:blipFill>
        <p:spPr>
          <a:xfrm>
            <a:off x="0" y="10"/>
            <a:ext cx="12191980" cy="6857990"/>
          </a:xfrm>
          <a:prstGeom prst="rect">
            <a:avLst/>
          </a:prstGeom>
        </p:spPr>
      </p:pic>
      <p:sp>
        <p:nvSpPr>
          <p:cNvPr id="4" name="TextBox 3">
            <a:extLst>
              <a:ext uri="{FF2B5EF4-FFF2-40B4-BE49-F238E27FC236}">
                <a16:creationId xmlns:a16="http://schemas.microsoft.com/office/drawing/2014/main" id="{69281CF9-A7DF-E01C-50AE-36938F2511DF}"/>
              </a:ext>
            </a:extLst>
          </p:cNvPr>
          <p:cNvSpPr txBox="1"/>
          <p:nvPr/>
        </p:nvSpPr>
        <p:spPr>
          <a:xfrm>
            <a:off x="838200" y="365125"/>
            <a:ext cx="3370243" cy="1009641"/>
          </a:xfrm>
          <a:prstGeom prst="rect">
            <a:avLst/>
          </a:prstGeom>
        </p:spPr>
        <p:txBody>
          <a:bodyPr vert="horz" lIns="91440" tIns="45720" rIns="91440" bIns="45720" rtlCol="0" anchor="ctr">
            <a:normAutofit/>
          </a:bodyPr>
          <a:lstStyle/>
          <a:p>
            <a:r>
              <a:rPr lang="en-US" sz="4400" dirty="0"/>
              <a:t>Conclusion</a:t>
            </a:r>
          </a:p>
        </p:txBody>
      </p:sp>
      <p:graphicFrame>
        <p:nvGraphicFramePr>
          <p:cNvPr id="16" name="TextBox 4">
            <a:extLst>
              <a:ext uri="{FF2B5EF4-FFF2-40B4-BE49-F238E27FC236}">
                <a16:creationId xmlns:a16="http://schemas.microsoft.com/office/drawing/2014/main" id="{698E0DD6-2492-0E02-EF66-49286FD85283}"/>
              </a:ext>
            </a:extLst>
          </p:cNvPr>
          <p:cNvGraphicFramePr/>
          <p:nvPr>
            <p:extLst>
              <p:ext uri="{D42A27DB-BD31-4B8C-83A1-F6EECF244321}">
                <p14:modId xmlns:p14="http://schemas.microsoft.com/office/powerpoint/2010/main" val="2765965869"/>
              </p:ext>
            </p:extLst>
          </p:nvPr>
        </p:nvGraphicFramePr>
        <p:xfrm>
          <a:off x="418641" y="1374766"/>
          <a:ext cx="11292289" cy="521332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9" name="Audio 8">
            <a:extLst>
              <a:ext uri="{FF2B5EF4-FFF2-40B4-BE49-F238E27FC236}">
                <a16:creationId xmlns:a16="http://schemas.microsoft.com/office/drawing/2014/main" id="{BDC8C265-57C0-0CAD-F5B9-3F80C9FA69B2}"/>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1546316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2000" advTm="88540"/>
    </mc:Choice>
    <mc:Fallback>
      <p:transition spd="slow" advTm="88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180</TotalTime>
  <Words>1517</Words>
  <Application>Microsoft Macintosh PowerPoint</Application>
  <PresentationFormat>Widescreen</PresentationFormat>
  <Paragraphs>106</Paragraphs>
  <Slides>11</Slides>
  <Notes>11</Notes>
  <HiddenSlides>0</HiddenSlides>
  <MMClips>11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-webkit-standard</vt:lpstr>
      <vt:lpstr>Aptos</vt:lpstr>
      <vt:lpstr>Aptos Display</vt:lpstr>
      <vt:lpstr>Arial</vt:lpstr>
      <vt:lpstr>Office Theme</vt:lpstr>
      <vt:lpstr>Clustering Analysis of U.S. Power Plants Using 2023 PUDL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Gombos, Stephen</dc:creator>
  <cp:lastModifiedBy>Gombos, Stephen</cp:lastModifiedBy>
  <cp:revision>4</cp:revision>
  <dcterms:created xsi:type="dcterms:W3CDTF">2025-12-07T16:33:02Z</dcterms:created>
  <dcterms:modified xsi:type="dcterms:W3CDTF">2025-12-07T19:33:24Z</dcterms:modified>
</cp:coreProperties>
</file>